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7698e7312346fd" /><Relationship Type="http://schemas.openxmlformats.org/officeDocument/2006/relationships/extended-properties" Target="/docProps/app.xml" Id="Red82068cfc0845ff" /><Relationship Type="http://schemas.openxmlformats.org/officeDocument/2006/relationships/officeDocument" Target="/ppt/presentation.xml" Id="R8ffc23ac3c04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9b92491bd54e77"/>
  </p:sldMasterIdLst>
  <p:notesMasterIdLst>
    <p:notesMasterId xmlns:r="http://schemas.openxmlformats.org/officeDocument/2006/relationships" r:id="R2f733d5d997041f8"/>
  </p:notesMasterIdLst>
  <p:sldIdLst>
    <p:sldId xmlns:r="http://schemas.openxmlformats.org/officeDocument/2006/relationships" id="256" r:id="R833180e5b188481a"/>
    <p:sldId xmlns:r="http://schemas.openxmlformats.org/officeDocument/2006/relationships" id="257" r:id="Rfcc423cff3db42ad"/>
    <p:sldId xmlns:r="http://schemas.openxmlformats.org/officeDocument/2006/relationships" id="258" r:id="R66b4bbd873ed4c90"/>
    <p:sldId xmlns:r="http://schemas.openxmlformats.org/officeDocument/2006/relationships" id="259" r:id="Re28e93f112814380"/>
    <p:sldId xmlns:r="http://schemas.openxmlformats.org/officeDocument/2006/relationships" id="260" r:id="Rec5b3af674ba4096"/>
    <p:sldId xmlns:r="http://schemas.openxmlformats.org/officeDocument/2006/relationships" id="261" r:id="Rcaba387a19c14320"/>
    <p:sldId xmlns:r="http://schemas.openxmlformats.org/officeDocument/2006/relationships" id="262" r:id="R4fbc260662234b74"/>
    <p:sldId xmlns:r="http://schemas.openxmlformats.org/officeDocument/2006/relationships" id="263" r:id="Ref298ae971a6455d"/>
    <p:sldId xmlns:r="http://schemas.openxmlformats.org/officeDocument/2006/relationships" id="264" r:id="Ref4c5bf252b2401d"/>
    <p:sldId xmlns:r="http://schemas.openxmlformats.org/officeDocument/2006/relationships" id="265" r:id="R95a81aa69ccd43f0"/>
    <p:sldId xmlns:r="http://schemas.openxmlformats.org/officeDocument/2006/relationships" id="266" r:id="Re691686eac1a4a6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b92491bd54e77" /><Relationship Type="http://schemas.openxmlformats.org/officeDocument/2006/relationships/theme" Target="/ppt/theme/theme1.xml" Id="R2a8d94e18f454ecf" /><Relationship Type="http://schemas.openxmlformats.org/officeDocument/2006/relationships/notesMaster" Target="/ppt/notesMasters/notesMaster1.xml" Id="R2f733d5d997041f8" /><Relationship Type="http://schemas.openxmlformats.org/officeDocument/2006/relationships/presProps" Target="/ppt/presProps.xml" Id="R040dcd51f5a643ec" /><Relationship Type="http://schemas.openxmlformats.org/officeDocument/2006/relationships/viewProps" Target="/ppt/viewProps.xml" Id="Rbeea524af1614c10" /><Relationship Type="http://schemas.openxmlformats.org/officeDocument/2006/relationships/tableStyles" Target="/ppt/tableStyles.xml" Id="Ra0622a4f8ba848a0" /><Relationship Type="http://schemas.openxmlformats.org/officeDocument/2006/relationships/slide" Target="/ppt/slides/slide1.xml" Id="R833180e5b188481a" /><Relationship Type="http://schemas.openxmlformats.org/officeDocument/2006/relationships/slide" Target="/ppt/slides/slide2.xml" Id="Rfcc423cff3db42ad" /><Relationship Type="http://schemas.openxmlformats.org/officeDocument/2006/relationships/slide" Target="/ppt/slides/slide3.xml" Id="R66b4bbd873ed4c90" /><Relationship Type="http://schemas.openxmlformats.org/officeDocument/2006/relationships/slide" Target="/ppt/slides/slide4.xml" Id="Re28e93f112814380" /><Relationship Type="http://schemas.openxmlformats.org/officeDocument/2006/relationships/slide" Target="/ppt/slides/slide5.xml" Id="Rec5b3af674ba4096" /><Relationship Type="http://schemas.openxmlformats.org/officeDocument/2006/relationships/slide" Target="/ppt/slides/slide6.xml" Id="Rcaba387a19c14320" /><Relationship Type="http://schemas.openxmlformats.org/officeDocument/2006/relationships/slide" Target="/ppt/slides/slide7.xml" Id="R4fbc260662234b74" /><Relationship Type="http://schemas.openxmlformats.org/officeDocument/2006/relationships/slide" Target="/ppt/slides/slide8.xml" Id="Ref298ae971a6455d" /><Relationship Type="http://schemas.openxmlformats.org/officeDocument/2006/relationships/slide" Target="/ppt/slides/slide9.xml" Id="Ref4c5bf252b2401d" /><Relationship Type="http://schemas.openxmlformats.org/officeDocument/2006/relationships/slide" Target="/ppt/slides/slide10.xml" Id="R95a81aa69ccd43f0" /><Relationship Type="http://schemas.openxmlformats.org/officeDocument/2006/relationships/slide" Target="/ppt/slides/slide11.xml" Id="Re691686eac1a4a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2a4aa24fca4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bfc0390234683" /><Relationship Type="http://schemas.openxmlformats.org/officeDocument/2006/relationships/notesMaster" Target="/ppt/notesMasters/notesMaster1.xml" Id="Reaf00baef5d345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b50760b9874568" /><Relationship Type="http://schemas.openxmlformats.org/officeDocument/2006/relationships/notesMaster" Target="/ppt/notesMasters/notesMaster1.xml" Id="Ra987f7e168fa40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e0b4e286934a0d" /><Relationship Type="http://schemas.openxmlformats.org/officeDocument/2006/relationships/notesMaster" Target="/ppt/notesMasters/notesMaster1.xml" Id="Rbcaad79c6e7347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912b26a813494c" /><Relationship Type="http://schemas.openxmlformats.org/officeDocument/2006/relationships/notesMaster" Target="/ppt/notesMasters/notesMaster1.xml" Id="R959693b34c284e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c550dbd264c5e" /><Relationship Type="http://schemas.openxmlformats.org/officeDocument/2006/relationships/notesMaster" Target="/ppt/notesMasters/notesMaster1.xml" Id="Rdb6edb8c89ba4d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01b528753549ee" /><Relationship Type="http://schemas.openxmlformats.org/officeDocument/2006/relationships/notesMaster" Target="/ppt/notesMasters/notesMaster1.xml" Id="R455f6e6e05fb4e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81be66f5be406c" /><Relationship Type="http://schemas.openxmlformats.org/officeDocument/2006/relationships/notesMaster" Target="/ppt/notesMasters/notesMaster1.xml" Id="R6160eab6b5e34d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b8f46f0cca44b4" /><Relationship Type="http://schemas.openxmlformats.org/officeDocument/2006/relationships/notesMaster" Target="/ppt/notesMasters/notesMaster1.xml" Id="R3b8d6df1f61b48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5be5389c3d481a" /><Relationship Type="http://schemas.openxmlformats.org/officeDocument/2006/relationships/notesMaster" Target="/ppt/notesMasters/notesMaster1.xml" Id="R61c4d452dcd744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d21b55d6ea41d1" /><Relationship Type="http://schemas.openxmlformats.org/officeDocument/2006/relationships/notesMaster" Target="/ppt/notesMasters/notesMaster1.xml" Id="Ra38c76e6c3e446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2fd3b3a7074fc0" /><Relationship Type="http://schemas.openxmlformats.org/officeDocument/2006/relationships/notesMaster" Target="/ppt/notesMasters/notesMaster1.xml" Id="Re0074b78476948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7ee0870ad4e3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53a131e1a8c44d8" /><Relationship Type="http://schemas.openxmlformats.org/officeDocument/2006/relationships/slideLayout" Target="/ppt/slideLayouts/slideLayout2.xml" Id="R8e7a8ab31c6d4e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a8ab31c6d4e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be4019fa74328" /><Relationship Type="http://schemas.openxmlformats.org/officeDocument/2006/relationships/image" Target="/ppt/media/image.png" Id="Rfb760e33840742f2" /><Relationship Type="http://schemas.openxmlformats.org/officeDocument/2006/relationships/notesSlide" Target="/ppt/notesSlides/notesSlide1.xml" Id="R554072f8c7d440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bac69fca57462b" /><Relationship Type="http://schemas.openxmlformats.org/officeDocument/2006/relationships/notesSlide" Target="/ppt/notesSlides/notesSlide2.xml" Id="R04395c63ccb748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b09768f0954705" /><Relationship Type="http://schemas.openxmlformats.org/officeDocument/2006/relationships/notesSlide" Target="/ppt/notesSlides/notesSlide3.xml" Id="Rf272ed950b0d40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47dcb70b404943" /><Relationship Type="http://schemas.openxmlformats.org/officeDocument/2006/relationships/image" Target="/ppt/media/image2.png" Id="Ra9ffd952112f49b1" /><Relationship Type="http://schemas.openxmlformats.org/officeDocument/2006/relationships/notesSlide" Target="/ppt/notesSlides/notesSlide4.xml" Id="R417d28fa9e2749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931ac6a14d4fb2" /><Relationship Type="http://schemas.openxmlformats.org/officeDocument/2006/relationships/image" Target="/ppt/media/image3.png" Id="R6f16685e55794324" /><Relationship Type="http://schemas.openxmlformats.org/officeDocument/2006/relationships/image" Target="/ppt/media/image4.png" Id="Rcb3674f7bd554fd4" /><Relationship Type="http://schemas.openxmlformats.org/officeDocument/2006/relationships/notesSlide" Target="/ppt/notesSlides/notesSlide5.xml" Id="R4706f8b728c542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9f530ec9a49a2" /><Relationship Type="http://schemas.openxmlformats.org/officeDocument/2006/relationships/notesSlide" Target="/ppt/notesSlides/notesSlide6.xml" Id="R967bd983a33f40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79d26b56f4726" /><Relationship Type="http://schemas.openxmlformats.org/officeDocument/2006/relationships/notesSlide" Target="/ppt/notesSlides/notesSlide7.xml" Id="R315f453a6d7f46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57e44e61604a05" /><Relationship Type="http://schemas.openxmlformats.org/officeDocument/2006/relationships/image" Target="/ppt/media/image5.png" Id="Rc433e1e830574d98" /><Relationship Type="http://schemas.openxmlformats.org/officeDocument/2006/relationships/image" Target="/ppt/media/image6.png" Id="R9d074bc9b9ba4bfc" /><Relationship Type="http://schemas.openxmlformats.org/officeDocument/2006/relationships/notesSlide" Target="/ppt/notesSlides/notesSlide8.xml" Id="R1808fb31ab1347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309e4368643d7" /><Relationship Type="http://schemas.openxmlformats.org/officeDocument/2006/relationships/notesSlide" Target="/ppt/notesSlides/notesSlide9.xml" Id="R47971bf33e864b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9780a002244c9e" /><Relationship Type="http://schemas.openxmlformats.org/officeDocument/2006/relationships/notesSlide" Target="/ppt/notesSlides/notesSlide10.xml" Id="Rc47ba1dd92f04a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97012a58f43f8" /><Relationship Type="http://schemas.openxmlformats.org/officeDocument/2006/relationships/notesSlide" Target="/ppt/notesSlides/notesSlide11.xml" Id="Re64eb32ca5ab44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60e33840742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7079CAFF-D315-4F9B-A0B7-A3753990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C">
              <a:alpha val="40000"/>
            </a:srgbClr>
          </a:solidFill>
        </p:spPr>
      </p:sp>
      <p:sp>
        <p:nvSpPr>
          <p:cNvPr id="3" name="cover-strip-pixel-0">
            <a:extLst xmlns:a="http://schemas.openxmlformats.org/drawingml/2006/main">
              <a:ext uri="{FF2B5EF4-FFF2-40B4-BE49-F238E27FC236}">
                <a16:creationId xmlns:a16="http://schemas.microsoft.com/office/drawing/2014/main" id="{24C02AE6-4930-4488-8394-97D42F3D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4" name="cover-strip-gap-0">
            <a:extLst xmlns:a="http://schemas.openxmlformats.org/drawingml/2006/main">
              <a:ext uri="{FF2B5EF4-FFF2-40B4-BE49-F238E27FC236}">
                <a16:creationId xmlns:a16="http://schemas.microsoft.com/office/drawing/2014/main" id="{55B57543-224A-49B3-B35A-9A3A77B2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cover-strip-pixel-1">
            <a:extLst xmlns:a="http://schemas.openxmlformats.org/drawingml/2006/main">
              <a:ext uri="{FF2B5EF4-FFF2-40B4-BE49-F238E27FC236}">
                <a16:creationId xmlns:a16="http://schemas.microsoft.com/office/drawing/2014/main" id="{A14DCC71-E838-4CA3-85CB-1D5FA3D8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58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6" name="cover-strip-gap-1">
            <a:extLst xmlns:a="http://schemas.openxmlformats.org/drawingml/2006/main">
              <a:ext uri="{FF2B5EF4-FFF2-40B4-BE49-F238E27FC236}">
                <a16:creationId xmlns:a16="http://schemas.microsoft.com/office/drawing/2014/main" id="{4E579CAB-90F3-4E32-9E94-735A476C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858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cover-strip-pixel-2">
            <a:extLst xmlns:a="http://schemas.openxmlformats.org/drawingml/2006/main">
              <a:ext uri="{FF2B5EF4-FFF2-40B4-BE49-F238E27FC236}">
                <a16:creationId xmlns:a16="http://schemas.microsoft.com/office/drawing/2014/main" id="{C59B15DC-B7BA-401E-AB80-99D73752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858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8" name="cover-strip-gap-2">
            <a:extLst xmlns:a="http://schemas.openxmlformats.org/drawingml/2006/main">
              <a:ext uri="{FF2B5EF4-FFF2-40B4-BE49-F238E27FC236}">
                <a16:creationId xmlns:a16="http://schemas.microsoft.com/office/drawing/2014/main" id="{74309631-7E3A-45F7-A9D3-6F272E08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858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cover-strip-pixel-3">
            <a:extLst xmlns:a="http://schemas.openxmlformats.org/drawingml/2006/main">
              <a:ext uri="{FF2B5EF4-FFF2-40B4-BE49-F238E27FC236}">
                <a16:creationId xmlns:a16="http://schemas.microsoft.com/office/drawing/2014/main" id="{D448A295-E7D1-4D8C-A5FF-3E59D919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858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10" name="cover-strip-gap-3">
            <a:extLst xmlns:a="http://schemas.openxmlformats.org/drawingml/2006/main">
              <a:ext uri="{FF2B5EF4-FFF2-40B4-BE49-F238E27FC236}">
                <a16:creationId xmlns:a16="http://schemas.microsoft.com/office/drawing/2014/main" id="{56ED7F13-017B-4595-9533-668DF106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858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cover-strip-pixel-4">
            <a:extLst xmlns:a="http://schemas.openxmlformats.org/drawingml/2006/main">
              <a:ext uri="{FF2B5EF4-FFF2-40B4-BE49-F238E27FC236}">
                <a16:creationId xmlns:a16="http://schemas.microsoft.com/office/drawing/2014/main" id="{2E8515FD-C793-4960-8A45-7E233D77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12" name="cover-strip-gap-4">
            <a:extLst xmlns:a="http://schemas.openxmlformats.org/drawingml/2006/main">
              <a:ext uri="{FF2B5EF4-FFF2-40B4-BE49-F238E27FC236}">
                <a16:creationId xmlns:a16="http://schemas.microsoft.com/office/drawing/2014/main" id="{FE04C7F0-8A69-4E9D-AC2D-82DCABA8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858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1886638-C712-4EBA-984A-27D0861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62050"/>
            <a:ext cx="842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54A"/>
                </a:solidFill>
              </a:defRPr>
            </a:pPr>
            <a:r>
              <a:rPr sz="1800" b="1">
                <a:solidFill>
                  <a:srgbClr val="FFD54A"/>
                </a:solidFill>
              </a:rPr>
              <a:t>FINAL PROJECT PRESENTATION</a:t>
            </a:r>
          </a:p>
        </p:txBody>
      </p:sp>
      <p:sp>
        <p:nvSpPr>
          <p:cNvPr id="14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454AD412-28B5-469D-9D56-ACAC1E7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43250"/>
            <a:ext cx="7620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7D0"/>
                </a:solidFill>
              </a:defRPr>
            </a:pPr>
            <a:r>
              <a:rPr sz="5850" b="1">
                <a:solidFill>
                  <a:srgbClr val="FFF7D0"/>
                </a:solidFill>
              </a:rPr>
              <a:t>FROM DRS TO</a:t>
            </a:r>
          </a:p>
        </p:txBody>
      </p:sp>
      <p:sp>
        <p:nvSpPr>
          <p:cNvPr id="15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76A2B4B0-AA49-451B-9E1B-E0C08B6C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7620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D54A"/>
                </a:solidFill>
              </a:defRPr>
            </a:pPr>
            <a:r>
              <a:rPr sz="6450" b="1">
                <a:solidFill>
                  <a:srgbClr val="FFD54A"/>
                </a:solidFill>
              </a:rPr>
              <a:t>MARIO MUSHROOMS</a:t>
            </a:r>
          </a:p>
        </p:txBody>
      </p:sp>
      <p:sp>
        <p:nvSpPr>
          <p:cNvPr id="16" name="cover-rule">
            <a:extLst xmlns:a="http://schemas.openxmlformats.org/drawingml/2006/main">
              <a:ext uri="{FF2B5EF4-FFF2-40B4-BE49-F238E27FC236}">
                <a16:creationId xmlns:a16="http://schemas.microsoft.com/office/drawing/2014/main" id="{C46C0E34-BFAD-426A-93C6-069CB14C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43550"/>
            <a:ext cx="609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  <a:ln xmlns:a="http://schemas.openxmlformats.org/drawingml/2006/main" w="0">
            <a:solidFill>
              <a:srgbClr val="EF3F4D"/>
            </a:solidFill>
            <a:prstDash val="solid"/>
          </a:ln>
        </p:spPr>
      </p:sp>
      <p:sp>
        <p:nvSpPr>
          <p:cNvPr id="1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F4A290F-698A-438A-8793-8C1D8214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886450"/>
            <a:ext cx="7620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FEBC2"/>
                </a:solidFill>
              </a:defRPr>
            </a:pPr>
            <a:r>
              <a:rPr sz="2100">
                <a:solidFill>
                  <a:srgbClr val="FFEBC2"/>
                </a:solidFill>
              </a:rPr>
              <a:t>A Formula 1 data visualization story about pace, passing pressure, and race disruption across 2025 and 2026.</a:t>
            </a:r>
          </a:p>
        </p:txBody>
      </p:sp>
      <p:sp>
        <p:nvSpPr>
          <p:cNvPr id="18" name="cover-name">
            <a:extLst xmlns:a="http://schemas.openxmlformats.org/drawingml/2006/main">
              <a:ext uri="{FF2B5EF4-FFF2-40B4-BE49-F238E27FC236}">
                <a16:creationId xmlns:a16="http://schemas.microsoft.com/office/drawing/2014/main" id="{2328240B-3F0F-475A-8473-46AB48DA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7D0"/>
                </a:solidFill>
              </a:defRPr>
            </a:pPr>
            <a:r>
              <a:rPr sz="1800" b="1">
                <a:solidFill>
                  <a:srgbClr val="FFF7D0"/>
                </a:solidFill>
              </a:rPr>
              <a:t>Alejandro Gonzalez</a:t>
            </a:r>
          </a:p>
        </p:txBody>
      </p:sp>
    </p:spTree>
    <p:extLst>
      <p:ext uri="{BB962C8B-B14F-4D97-AF65-F5344CB8AC3E}">
        <p14:creationId xmlns:p14="http://schemas.microsoft.com/office/powerpoint/2010/main" val="17930848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1928DB2-5B2C-4F68-A44A-0C503472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52F95245-BD44-4B9E-94F6-A8F4398C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1FF798BA-19F5-44A7-BBBF-57186B81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55826242-D845-4F4C-928E-B895E810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F444C493-849A-4E52-8D75-531E5F99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69FAC93A-7678-4125-B0C9-B64047D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A6DB51C3-DF80-4634-83CA-FF63F87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CD4129CE-5D4A-4B68-AE45-E872A1F3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AAEAE2E5-7379-480F-A59D-32A86D7C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A85292F0-D89F-44E7-A23A-38FCF3F8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CE543F23-40D4-4311-8038-B07CB5C0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3B464570-F540-4845-804E-E7FD76C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DF562277-C08F-41B8-B356-0ED9C9C8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C1ED7842-59FE-45B0-834D-1F0FAC12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20C4A90F-E6EE-4018-A87B-7F538A83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7FE073EA-4EA1-43A5-8147-98DE2B8F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29261853-23A3-439D-A6EC-2D795DBE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EE9D12EA-F293-4C94-B599-660451A0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12E46288-E446-438C-B78F-983AC8AD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7AD463F6-A210-426B-89A4-79DA5933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70046BDF-8E53-43EB-923B-EFD94FB7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012C23E5-2FDD-4AD6-85B2-66D936F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FC21ED17-DC96-4579-9B51-D5A07576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7DE69574-1B3D-4EE8-B5FA-62A6835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88FF535C-E3B0-4C93-A224-E9C0223C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A20E5118-27A9-4497-B072-AC9E3B9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EAD017B5-9B31-4AC6-B15A-D8452C22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92083920-D21C-497F-BE04-50A20636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65C831DF-89F1-4033-8236-780280C5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70F4D6A6-C902-4A17-9379-A865A3D6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217134BF-5165-440D-89BC-950977B8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96EFE7C9-FEC2-4C47-86FD-F4D90E15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606C3073-052B-4038-B9A8-6DC2659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CF16B865-ECA3-491E-9127-788FC5AA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DF437947-98DD-4669-897B-F4E0F3CA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221F2E28-D93E-4946-9AB2-6A83A78F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7C70D515-E2B0-442D-91C6-54D7C37E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3915F738-E185-4FFC-87A7-D89E126E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71C7B3ED-DEBF-4A3B-904A-F37D85AD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8E9EC331-F5F7-4163-88A3-D2362B58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C3D81408-0DC8-4EEE-BE50-ECF08B7E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C39831-9E87-489E-85EB-66380814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Project Goal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C5BCBD-000E-48E5-8605-23F28D64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What the site is trying to answer</a:t>
            </a:r>
          </a:p>
        </p:txBody>
      </p:sp>
      <p:sp>
        <p:nvSpPr>
          <p:cNvPr id="44" name="lap-2">
            <a:extLst xmlns:a="http://schemas.openxmlformats.org/drawingml/2006/main">
              <a:ext uri="{FF2B5EF4-FFF2-40B4-BE49-F238E27FC236}">
                <a16:creationId xmlns:a16="http://schemas.microsoft.com/office/drawing/2014/main" id="{1EB986E3-7A06-413E-B6DD-4C92E65C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2">
            <a:extLst xmlns:a="http://schemas.openxmlformats.org/drawingml/2006/main">
              <a:ext uri="{FF2B5EF4-FFF2-40B4-BE49-F238E27FC236}">
                <a16:creationId xmlns:a16="http://schemas.microsoft.com/office/drawing/2014/main" id="{852B531F-B3B7-49B2-959F-0835F8E1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2">
            <a:extLst xmlns:a="http://schemas.openxmlformats.org/drawingml/2006/main">
              <a:ext uri="{FF2B5EF4-FFF2-40B4-BE49-F238E27FC236}">
                <a16:creationId xmlns:a16="http://schemas.microsoft.com/office/drawing/2014/main" id="{3E50B92A-F953-4BAE-B104-36052BA2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02/11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C56586-3436-4BAF-9759-D73F3342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goal-panel">
            <a:extLst xmlns:a="http://schemas.openxmlformats.org/drawingml/2006/main">
              <a:ext uri="{FF2B5EF4-FFF2-40B4-BE49-F238E27FC236}">
                <a16:creationId xmlns:a16="http://schemas.microsoft.com/office/drawing/2014/main" id="{AEE07650-8236-4433-8F38-1ACD9948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981837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49" name="goal-main">
            <a:extLst xmlns:a="http://schemas.openxmlformats.org/drawingml/2006/main">
              <a:ext uri="{FF2B5EF4-FFF2-40B4-BE49-F238E27FC236}">
                <a16:creationId xmlns:a16="http://schemas.microsoft.com/office/drawing/2014/main" id="{48A8471A-B9D8-4B35-A134-505F5A5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89725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7D0"/>
                </a:solidFill>
              </a:defRPr>
            </a:pPr>
            <a:r>
              <a:rPr sz="3300" b="1">
                <a:solidFill>
                  <a:srgbClr val="FFF7D0"/>
                </a:solidFill>
              </a:rPr>
              <a:t>Compare Formula 1's opening 2025 and 2026 races to see whether the 2026 regulation era is already visible in the data.</a:t>
            </a:r>
          </a:p>
        </p:txBody>
      </p:sp>
      <p:sp>
        <p:nvSpPr>
          <p:cNvPr id="50" name="goal-bullets-0-mark">
            <a:extLst xmlns:a="http://schemas.openxmlformats.org/drawingml/2006/main">
              <a:ext uri="{FF2B5EF4-FFF2-40B4-BE49-F238E27FC236}">
                <a16:creationId xmlns:a16="http://schemas.microsoft.com/office/drawing/2014/main" id="{850F79DF-F9B5-4CB3-8324-B6AD1597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51" name="goal-bullets-0-text">
            <a:extLst xmlns:a="http://schemas.openxmlformats.org/drawingml/2006/main">
              <a:ext uri="{FF2B5EF4-FFF2-40B4-BE49-F238E27FC236}">
                <a16:creationId xmlns:a16="http://schemas.microsoft.com/office/drawing/2014/main" id="{20C25242-B83D-42DD-9733-B55B9090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86250"/>
            <a:ext cx="859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Pace and top-speed patterns</a:t>
            </a:r>
          </a:p>
        </p:txBody>
      </p:sp>
      <p:sp>
        <p:nvSpPr>
          <p:cNvPr id="52" name="goal-bullets-1-mark">
            <a:extLst xmlns:a="http://schemas.openxmlformats.org/drawingml/2006/main">
              <a:ext uri="{FF2B5EF4-FFF2-40B4-BE49-F238E27FC236}">
                <a16:creationId xmlns:a16="http://schemas.microsoft.com/office/drawing/2014/main" id="{8BF4180F-DD7F-4D46-A491-3956F036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53" name="goal-bullets-1-text">
            <a:extLst xmlns:a="http://schemas.openxmlformats.org/drawingml/2006/main">
              <a:ext uri="{FF2B5EF4-FFF2-40B4-BE49-F238E27FC236}">
                <a16:creationId xmlns:a16="http://schemas.microsoft.com/office/drawing/2014/main" id="{1FB17E3F-2162-40AF-885A-3D93A4E7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00600"/>
            <a:ext cx="859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Lap-by-lap race movement</a:t>
            </a:r>
          </a:p>
        </p:txBody>
      </p:sp>
      <p:sp>
        <p:nvSpPr>
          <p:cNvPr id="54" name="goal-bullets-2-mark">
            <a:extLst xmlns:a="http://schemas.openxmlformats.org/drawingml/2006/main">
              <a:ext uri="{FF2B5EF4-FFF2-40B4-BE49-F238E27FC236}">
                <a16:creationId xmlns:a16="http://schemas.microsoft.com/office/drawing/2014/main" id="{E8023BD1-7FB9-4CEC-BFBE-066DD5E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10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55" name="goal-bullets-2-text">
            <a:extLst xmlns:a="http://schemas.openxmlformats.org/drawingml/2006/main">
              <a:ext uri="{FF2B5EF4-FFF2-40B4-BE49-F238E27FC236}">
                <a16:creationId xmlns:a16="http://schemas.microsoft.com/office/drawing/2014/main" id="{DE8914A7-4BFF-4146-8562-3A3671C0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34000"/>
            <a:ext cx="859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Incidents, DNFs, safety cars, and VSCs</a:t>
            </a:r>
          </a:p>
        </p:txBody>
      </p:sp>
      <p:sp>
        <p:nvSpPr>
          <p:cNvPr id="56" name="goal-bullets-3-mark">
            <a:extLst xmlns:a="http://schemas.openxmlformats.org/drawingml/2006/main">
              <a:ext uri="{FF2B5EF4-FFF2-40B4-BE49-F238E27FC236}">
                <a16:creationId xmlns:a16="http://schemas.microsoft.com/office/drawing/2014/main" id="{CEE37A09-D94B-40DF-A756-2492A803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57" name="goal-bullets-3-text">
            <a:extLst xmlns:a="http://schemas.openxmlformats.org/drawingml/2006/main">
              <a:ext uri="{FF2B5EF4-FFF2-40B4-BE49-F238E27FC236}">
                <a16:creationId xmlns:a16="http://schemas.microsoft.com/office/drawing/2014/main" id="{A4F5C38A-83E2-4A1B-94AD-DA2C09D4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859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Circuit differences across Australia, China, Japan, and Miami</a:t>
            </a:r>
          </a:p>
        </p:txBody>
      </p:sp>
      <p:sp>
        <p:nvSpPr>
          <p:cNvPr id="58" name="drs-panel">
            <a:extLst xmlns:a="http://schemas.openxmlformats.org/drawingml/2006/main">
              <a:ext uri="{FF2B5EF4-FFF2-40B4-BE49-F238E27FC236}">
                <a16:creationId xmlns:a16="http://schemas.microsoft.com/office/drawing/2014/main" id="{1E6D3DCD-81DC-428A-AB91-546D0C9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420" y="2171700"/>
            <a:ext cx="654558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638"/>
          </a:solidFill>
        </p:spPr>
      </p:sp>
      <p:sp>
        <p:nvSpPr>
          <p:cNvPr id="59" name="drs-definition">
            <a:extLst xmlns:a="http://schemas.openxmlformats.org/drawingml/2006/main">
              <a:ext uri="{FF2B5EF4-FFF2-40B4-BE49-F238E27FC236}">
                <a16:creationId xmlns:a16="http://schemas.microsoft.com/office/drawing/2014/main" id="{A586639A-DB5A-426A-A59A-8D544AD0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495550"/>
            <a:ext cx="590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D54A"/>
                </a:solidFill>
              </a:defRPr>
            </a:pPr>
            <a:r>
              <a:rPr sz="2550" b="1">
                <a:solidFill>
                  <a:srgbClr val="FFD54A"/>
                </a:solidFill>
              </a:rPr>
              <a:t>DRS = an F1 speed-boost zone.</a:t>
            </a:r>
          </a:p>
        </p:txBody>
      </p:sp>
      <p:sp>
        <p:nvSpPr>
          <p:cNvPr id="60" name="metaphor-copy">
            <a:extLst xmlns:a="http://schemas.openxmlformats.org/drawingml/2006/main">
              <a:ext uri="{FF2B5EF4-FFF2-40B4-BE49-F238E27FC236}">
                <a16:creationId xmlns:a16="http://schemas.microsoft.com/office/drawing/2014/main" id="{9F04B358-B7F7-4085-971E-BBB47EA0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105150"/>
            <a:ext cx="59055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FEBC2"/>
                </a:solidFill>
              </a:defRPr>
            </a:pPr>
            <a:r>
              <a:rPr sz="2100">
                <a:solidFill>
                  <a:srgbClr val="FFEBC2"/>
                </a:solidFill>
              </a:rPr>
              <a:t>The mushroom metaphor helped frame technical race data as a set of power-ups, penalties, and level-by-level comparisons.</a:t>
            </a:r>
          </a:p>
        </p:txBody>
      </p:sp>
      <p:sp>
        <p:nvSpPr>
          <p:cNvPr id="61" name="drs-strip-pixel-0">
            <a:extLst xmlns:a="http://schemas.openxmlformats.org/drawingml/2006/main">
              <a:ext uri="{FF2B5EF4-FFF2-40B4-BE49-F238E27FC236}">
                <a16:creationId xmlns:a16="http://schemas.microsoft.com/office/drawing/2014/main" id="{39050126-6CDC-4C46-AADC-56EB08B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305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62" name="drs-strip-gap-0">
            <a:extLst xmlns:a="http://schemas.openxmlformats.org/drawingml/2006/main">
              <a:ext uri="{FF2B5EF4-FFF2-40B4-BE49-F238E27FC236}">
                <a16:creationId xmlns:a16="http://schemas.microsoft.com/office/drawing/2014/main" id="{69D664F1-EB65-4DB4-A15E-7BC11A26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30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3" name="drs-strip-pixel-1">
            <a:extLst xmlns:a="http://schemas.openxmlformats.org/drawingml/2006/main">
              <a:ext uri="{FF2B5EF4-FFF2-40B4-BE49-F238E27FC236}">
                <a16:creationId xmlns:a16="http://schemas.microsoft.com/office/drawing/2014/main" id="{47868ABC-A4EF-48B6-833A-5331F81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305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64" name="drs-strip-gap-1">
            <a:extLst xmlns:a="http://schemas.openxmlformats.org/drawingml/2006/main">
              <a:ext uri="{FF2B5EF4-FFF2-40B4-BE49-F238E27FC236}">
                <a16:creationId xmlns:a16="http://schemas.microsoft.com/office/drawing/2014/main" id="{D6AE1B0B-C10D-49D4-BBF8-8E9CBB76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30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5" name="drs-strip-pixel-2">
            <a:extLst xmlns:a="http://schemas.openxmlformats.org/drawingml/2006/main">
              <a:ext uri="{FF2B5EF4-FFF2-40B4-BE49-F238E27FC236}">
                <a16:creationId xmlns:a16="http://schemas.microsoft.com/office/drawing/2014/main" id="{DC048746-77A7-4C00-801B-E8561A5C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305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6" name="drs-strip-gap-2">
            <a:extLst xmlns:a="http://schemas.openxmlformats.org/drawingml/2006/main">
              <a:ext uri="{FF2B5EF4-FFF2-40B4-BE49-F238E27FC236}">
                <a16:creationId xmlns:a16="http://schemas.microsoft.com/office/drawing/2014/main" id="{2B33ED4E-5CDC-4A95-9B1E-8080896F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30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7" name="drs-strip-pixel-3">
            <a:extLst xmlns:a="http://schemas.openxmlformats.org/drawingml/2006/main">
              <a:ext uri="{FF2B5EF4-FFF2-40B4-BE49-F238E27FC236}">
                <a16:creationId xmlns:a16="http://schemas.microsoft.com/office/drawing/2014/main" id="{03EC16BB-C27E-4F91-9427-B8BF0507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305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68" name="drs-strip-gap-3">
            <a:extLst xmlns:a="http://schemas.openxmlformats.org/drawingml/2006/main">
              <a:ext uri="{FF2B5EF4-FFF2-40B4-BE49-F238E27FC236}">
                <a16:creationId xmlns:a16="http://schemas.microsoft.com/office/drawing/2014/main" id="{18DD0615-EE30-4690-971B-93BF6719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30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9" name="drs-strip-pixel-4">
            <a:extLst xmlns:a="http://schemas.openxmlformats.org/drawingml/2006/main">
              <a:ext uri="{FF2B5EF4-FFF2-40B4-BE49-F238E27FC236}">
                <a16:creationId xmlns:a16="http://schemas.microsoft.com/office/drawing/2014/main" id="{E69352C4-5962-4592-8138-27C0483A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305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70" name="drs-strip-gap-4">
            <a:extLst xmlns:a="http://schemas.openxmlformats.org/drawingml/2006/main">
              <a:ext uri="{FF2B5EF4-FFF2-40B4-BE49-F238E27FC236}">
                <a16:creationId xmlns:a16="http://schemas.microsoft.com/office/drawing/2014/main" id="{A8739ECF-AEF2-45C1-AA6F-06502212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30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1" name="scope-update">
            <a:extLst xmlns:a="http://schemas.openxmlformats.org/drawingml/2006/main">
              <a:ext uri="{FF2B5EF4-FFF2-40B4-BE49-F238E27FC236}">
                <a16:creationId xmlns:a16="http://schemas.microsoft.com/office/drawing/2014/main" id="{1B61D776-4BAD-47BA-AFCE-4C8FE0F8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762500"/>
            <a:ext cx="590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D7C2"/>
                </a:solidFill>
              </a:defRPr>
            </a:pPr>
            <a:r>
              <a:rPr sz="1800" b="1">
                <a:solidFill>
                  <a:srgbClr val="1DD7C2"/>
                </a:solidFill>
              </a:rPr>
              <a:t>Final scope update: Miami was added after the 2026 Miami GP.</a:t>
            </a:r>
          </a:p>
        </p:txBody>
      </p:sp>
    </p:spTree>
    <p:extLst>
      <p:ext uri="{BB962C8B-B14F-4D97-AF65-F5344CB8AC3E}">
        <p14:creationId xmlns:p14="http://schemas.microsoft.com/office/powerpoint/2010/main" val="15708598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924B74D-05F0-47F0-A620-24A79A1F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6AF7880E-32C4-48D9-8C1D-343195B9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99AEE447-CC11-4AC7-9FB9-ECC3BB10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57D8FF6C-0383-4A08-809C-7648C50D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5F13024D-1A88-4ED6-B0DE-3C923C4B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98B20357-0A7B-415B-8E2C-8544AE7F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20922DB2-7998-428C-A58C-CADF8426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F5D4A5A1-ACC0-40C1-93B8-3504E051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FCFED23D-149E-4F4C-AC3E-21A38363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18EAF528-DF46-4C1B-877B-94121A10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ED973BE6-59D6-4162-8A72-7F825ACA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D5627B0E-B801-4B90-ADF3-F960CBBE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C914DB51-2235-4390-9ECF-AF8488BC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D436759B-35AC-45FA-A242-CF5C288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BCBE5FE4-22DC-4177-A035-C2C50772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C732F6B8-1166-4826-B37C-CC371353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AF0C8706-FB24-4EB0-AC3B-A75BC972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EC72D138-2D7B-48C2-BBEF-EBA344E4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FBB0CBC0-49CC-4280-8DBC-606B013F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E4DE3E35-8889-4458-9022-7B2AA15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30F3F9AD-6910-4085-9F3B-9F57A1AE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CF463217-BBC6-494E-9EF4-4E7CFDAF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6E8BFA10-FA38-406B-9A51-B64F7A78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E33EF09E-00B5-4980-9DE3-7E341D35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A05CF950-848A-48B6-9735-9E7491AF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87B43C5A-B952-4EB3-837D-2D6A9258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401E8C96-B664-4018-9773-41F4DECC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A2121F9E-47F3-43F1-A76F-6B4B9429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1BD1487B-D73F-47D3-99BB-9ED84DF8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F16ED54B-2172-45EE-BB91-5542A645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1EBCADB3-61A4-485A-8FC3-FECB6C3D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8E6305A2-F364-4135-BA49-65EAB15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B79DC384-6F77-40C4-B6DC-E3B93C01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3A9507CD-8733-4BD1-A2D4-E21F4116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E1F7505C-2E5C-4FC1-8FB5-979EAC35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CDA12C1D-521E-4E63-A7CC-1EF71937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AFA4388C-9A39-4C84-9690-6CDE5218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E5C64904-5C0E-4E40-83C3-465F5D05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E2A54D36-D3CA-471A-8CB4-62477B6D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6E4685D0-6098-4AF3-B17F-4AFDCF7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CF04B31B-18DB-4C0E-9584-6B30211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6ABF2B-FA30-4857-B839-CF0C026A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Project Objectives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044A9C-D8A8-4BB6-A50A-2A009A17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Pulled from the proposal, updated for the final site</a:t>
            </a:r>
          </a:p>
        </p:txBody>
      </p:sp>
      <p:sp>
        <p:nvSpPr>
          <p:cNvPr id="44" name="lap-3">
            <a:extLst xmlns:a="http://schemas.openxmlformats.org/drawingml/2006/main">
              <a:ext uri="{FF2B5EF4-FFF2-40B4-BE49-F238E27FC236}">
                <a16:creationId xmlns:a16="http://schemas.microsoft.com/office/drawing/2014/main" id="{8A1E929C-2761-4D06-A714-6D22F6C4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3">
            <a:extLst xmlns:a="http://schemas.openxmlformats.org/drawingml/2006/main">
              <a:ext uri="{FF2B5EF4-FFF2-40B4-BE49-F238E27FC236}">
                <a16:creationId xmlns:a16="http://schemas.microsoft.com/office/drawing/2014/main" id="{3B1DC529-985E-4BC9-9BAA-D71AAB43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3">
            <a:extLst xmlns:a="http://schemas.openxmlformats.org/drawingml/2006/main">
              <a:ext uri="{FF2B5EF4-FFF2-40B4-BE49-F238E27FC236}">
                <a16:creationId xmlns:a16="http://schemas.microsoft.com/office/drawing/2014/main" id="{7F4B3C3F-E236-4A92-A91F-5CAA438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03/11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159940C-C1A7-4CEA-B4BD-C2BB456B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tile-OBJ 1">
            <a:extLst xmlns:a="http://schemas.openxmlformats.org/drawingml/2006/main">
              <a:ext uri="{FF2B5EF4-FFF2-40B4-BE49-F238E27FC236}">
                <a16:creationId xmlns:a16="http://schemas.microsoft.com/office/drawing/2014/main" id="{BDB01FAA-BEDE-4913-957B-DF1DD5E3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82581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49" name="tile-pixel-OBJ 1">
            <a:extLst xmlns:a="http://schemas.openxmlformats.org/drawingml/2006/main">
              <a:ext uri="{FF2B5EF4-FFF2-40B4-BE49-F238E27FC236}">
                <a16:creationId xmlns:a16="http://schemas.microsoft.com/office/drawing/2014/main" id="{2975EA90-D35A-4997-B16F-62131214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50" name="tile-label-OBJ 1">
            <a:extLst xmlns:a="http://schemas.openxmlformats.org/drawingml/2006/main">
              <a:ext uri="{FF2B5EF4-FFF2-40B4-BE49-F238E27FC236}">
                <a16:creationId xmlns:a16="http://schemas.microsoft.com/office/drawing/2014/main" id="{5D1550FD-2824-4994-8BC5-EDC7E855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OBJ 1</a:t>
            </a:r>
          </a:p>
        </p:txBody>
      </p:sp>
      <p:sp>
        <p:nvSpPr>
          <p:cNvPr id="51" name="tile-value-OBJ 1">
            <a:extLst xmlns:a="http://schemas.openxmlformats.org/drawingml/2006/main">
              <a:ext uri="{FF2B5EF4-FFF2-40B4-BE49-F238E27FC236}">
                <a16:creationId xmlns:a16="http://schemas.microsoft.com/office/drawing/2014/main" id="{C58FF188-E8C1-49C2-9BFE-0FFFFD1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777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7D0"/>
                </a:solidFill>
              </a:defRPr>
            </a:pPr>
            <a:r>
              <a:rPr sz="2550" b="1">
                <a:solidFill>
                  <a:srgbClr val="FFF7D0"/>
                </a:solidFill>
              </a:rPr>
              <a:t>Measure pace and top-speed change</a:t>
            </a:r>
          </a:p>
        </p:txBody>
      </p:sp>
      <p:sp>
        <p:nvSpPr>
          <p:cNvPr id="52" name="tile-detail-OBJ 1">
            <a:extLst xmlns:a="http://schemas.openxmlformats.org/drawingml/2006/main">
              <a:ext uri="{FF2B5EF4-FFF2-40B4-BE49-F238E27FC236}">
                <a16:creationId xmlns:a16="http://schemas.microsoft.com/office/drawing/2014/main" id="{2C7DE77C-FEA0-4ED0-B374-62D47B57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777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Compare same-circuit 2025 vs 2026 lap-time and speed-trap summaries.</a:t>
            </a:r>
          </a:p>
        </p:txBody>
      </p:sp>
      <p:sp>
        <p:nvSpPr>
          <p:cNvPr id="53" name="tile-OBJ 2">
            <a:extLst xmlns:a="http://schemas.openxmlformats.org/drawingml/2006/main">
              <a:ext uri="{FF2B5EF4-FFF2-40B4-BE49-F238E27FC236}">
                <a16:creationId xmlns:a16="http://schemas.microsoft.com/office/drawing/2014/main" id="{58AAF392-AB19-4CFD-8F9B-8A81D5A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71700"/>
            <a:ext cx="82581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54" name="tile-pixel-OBJ 2">
            <a:extLst xmlns:a="http://schemas.openxmlformats.org/drawingml/2006/main">
              <a:ext uri="{FF2B5EF4-FFF2-40B4-BE49-F238E27FC236}">
                <a16:creationId xmlns:a16="http://schemas.microsoft.com/office/drawing/2014/main" id="{4945F46C-E9A5-47DA-8897-74FF3D02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55" name="tile-label-OBJ 2">
            <a:extLst xmlns:a="http://schemas.openxmlformats.org/drawingml/2006/main">
              <a:ext uri="{FF2B5EF4-FFF2-40B4-BE49-F238E27FC236}">
                <a16:creationId xmlns:a16="http://schemas.microsoft.com/office/drawing/2014/main" id="{8A3AE428-5398-4DBB-A235-66A43757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OBJ 2</a:t>
            </a:r>
          </a:p>
        </p:txBody>
      </p:sp>
      <p:sp>
        <p:nvSpPr>
          <p:cNvPr id="56" name="tile-value-OBJ 2">
            <a:extLst xmlns:a="http://schemas.openxmlformats.org/drawingml/2006/main">
              <a:ext uri="{FF2B5EF4-FFF2-40B4-BE49-F238E27FC236}">
                <a16:creationId xmlns:a16="http://schemas.microsoft.com/office/drawing/2014/main" id="{D83FFA77-1818-441F-AC49-34A3A0D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777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7D0"/>
                </a:solidFill>
              </a:defRPr>
            </a:pPr>
            <a:r>
              <a:rPr sz="2550" b="1">
                <a:solidFill>
                  <a:srgbClr val="FFF7D0"/>
                </a:solidFill>
              </a:rPr>
              <a:t>Evaluate race dynamics</a:t>
            </a:r>
          </a:p>
        </p:txBody>
      </p:sp>
      <p:sp>
        <p:nvSpPr>
          <p:cNvPr id="57" name="tile-detail-OBJ 2">
            <a:extLst xmlns:a="http://schemas.openxmlformats.org/drawingml/2006/main">
              <a:ext uri="{FF2B5EF4-FFF2-40B4-BE49-F238E27FC236}">
                <a16:creationId xmlns:a16="http://schemas.microsoft.com/office/drawing/2014/main" id="{01F4F381-0B4C-40AF-A613-5C4FA2D8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777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Use lap-by-lap positions and position-change proxy as passing-pressure evidence.</a:t>
            </a:r>
          </a:p>
        </p:txBody>
      </p:sp>
      <p:sp>
        <p:nvSpPr>
          <p:cNvPr id="58" name="tile-OBJ 3">
            <a:extLst xmlns:a="http://schemas.openxmlformats.org/drawingml/2006/main">
              <a:ext uri="{FF2B5EF4-FFF2-40B4-BE49-F238E27FC236}">
                <a16:creationId xmlns:a16="http://schemas.microsoft.com/office/drawing/2014/main" id="{050DF81C-ECFB-4B55-AD04-21BC05B0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82581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59" name="tile-pixel-OBJ 3">
            <a:extLst xmlns:a="http://schemas.openxmlformats.org/drawingml/2006/main">
              <a:ext uri="{FF2B5EF4-FFF2-40B4-BE49-F238E27FC236}">
                <a16:creationId xmlns:a16="http://schemas.microsoft.com/office/drawing/2014/main" id="{C1448769-5C9A-42D1-B96C-83143A1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62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60" name="tile-label-OBJ 3">
            <a:extLst xmlns:a="http://schemas.openxmlformats.org/drawingml/2006/main">
              <a:ext uri="{FF2B5EF4-FFF2-40B4-BE49-F238E27FC236}">
                <a16:creationId xmlns:a16="http://schemas.microsoft.com/office/drawing/2014/main" id="{C9FBC15A-8DBE-4829-A763-5723DF2A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2460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OBJ 3</a:t>
            </a:r>
          </a:p>
        </p:txBody>
      </p:sp>
      <p:sp>
        <p:nvSpPr>
          <p:cNvPr id="61" name="tile-value-OBJ 3">
            <a:extLst xmlns:a="http://schemas.openxmlformats.org/drawingml/2006/main">
              <a:ext uri="{FF2B5EF4-FFF2-40B4-BE49-F238E27FC236}">
                <a16:creationId xmlns:a16="http://schemas.microsoft.com/office/drawing/2014/main" id="{BC64425E-F8BD-4765-BAA6-08997484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86550"/>
            <a:ext cx="777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7D0"/>
                </a:solidFill>
              </a:defRPr>
            </a:pPr>
            <a:r>
              <a:rPr sz="2550" b="1">
                <a:solidFill>
                  <a:srgbClr val="FFF7D0"/>
                </a:solidFill>
              </a:rPr>
              <a:t>Compare race disruption</a:t>
            </a:r>
          </a:p>
        </p:txBody>
      </p:sp>
      <p:sp>
        <p:nvSpPr>
          <p:cNvPr id="62" name="tile-detail-OBJ 3">
            <a:extLst xmlns:a="http://schemas.openxmlformats.org/drawingml/2006/main">
              <a:ext uri="{FF2B5EF4-FFF2-40B4-BE49-F238E27FC236}">
                <a16:creationId xmlns:a16="http://schemas.microsoft.com/office/drawing/2014/main" id="{C4C2BFBB-150D-483F-B045-BC8213E2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200900"/>
            <a:ext cx="777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Track DNFs, incidents, safety cars, and virtual safety cars by race lap.</a:t>
            </a:r>
          </a:p>
        </p:txBody>
      </p:sp>
      <p:sp>
        <p:nvSpPr>
          <p:cNvPr id="63" name="tile-OBJ 4">
            <a:extLst xmlns:a="http://schemas.openxmlformats.org/drawingml/2006/main">
              <a:ext uri="{FF2B5EF4-FFF2-40B4-BE49-F238E27FC236}">
                <a16:creationId xmlns:a16="http://schemas.microsoft.com/office/drawing/2014/main" id="{106DAAB9-6893-4AD2-A0EE-05CC3DAA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086475"/>
            <a:ext cx="82581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64" name="tile-pixel-OBJ 4">
            <a:extLst xmlns:a="http://schemas.openxmlformats.org/drawingml/2006/main">
              <a:ext uri="{FF2B5EF4-FFF2-40B4-BE49-F238E27FC236}">
                <a16:creationId xmlns:a16="http://schemas.microsoft.com/office/drawing/2014/main" id="{12A632C5-F78B-42E7-AFD7-82E5A0A5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65" name="tile-label-OBJ 4">
            <a:extLst xmlns:a="http://schemas.openxmlformats.org/drawingml/2006/main">
              <a:ext uri="{FF2B5EF4-FFF2-40B4-BE49-F238E27FC236}">
                <a16:creationId xmlns:a16="http://schemas.microsoft.com/office/drawing/2014/main" id="{695E6370-C257-4646-879C-5915E8E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2460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OBJ 4</a:t>
            </a:r>
          </a:p>
        </p:txBody>
      </p:sp>
      <p:sp>
        <p:nvSpPr>
          <p:cNvPr id="66" name="tile-value-OBJ 4">
            <a:extLst xmlns:a="http://schemas.openxmlformats.org/drawingml/2006/main">
              <a:ext uri="{FF2B5EF4-FFF2-40B4-BE49-F238E27FC236}">
                <a16:creationId xmlns:a16="http://schemas.microsoft.com/office/drawing/2014/main" id="{2E394E8D-CA4A-48BA-8755-3F459568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86550"/>
            <a:ext cx="777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7D0"/>
                </a:solidFill>
              </a:defRPr>
            </a:pPr>
            <a:r>
              <a:rPr sz="2550" b="1">
                <a:solidFill>
                  <a:srgbClr val="FFF7D0"/>
                </a:solidFill>
              </a:rPr>
              <a:t>Show circuit variation</a:t>
            </a:r>
          </a:p>
        </p:txBody>
      </p:sp>
      <p:sp>
        <p:nvSpPr>
          <p:cNvPr id="67" name="tile-detail-OBJ 4">
            <a:extLst xmlns:a="http://schemas.openxmlformats.org/drawingml/2006/main">
              <a:ext uri="{FF2B5EF4-FFF2-40B4-BE49-F238E27FC236}">
                <a16:creationId xmlns:a16="http://schemas.microsoft.com/office/drawing/2014/main" id="{4D14DADA-621F-4408-8692-A44A8E31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00900"/>
            <a:ext cx="777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Prevent one-race overgeneralization with a circuit-level scorecard.</a:t>
            </a:r>
          </a:p>
        </p:txBody>
      </p:sp>
    </p:spTree>
    <p:extLst>
      <p:ext uri="{BB962C8B-B14F-4D97-AF65-F5344CB8AC3E}">
        <p14:creationId xmlns:p14="http://schemas.microsoft.com/office/powerpoint/2010/main" val="12895147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6D203C0-3EC6-430C-A475-6F908E21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0663B41E-2AE8-410D-A192-217D1C70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0F3517A4-2614-45DF-ACE8-AF6D61D2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E15A6849-560B-4C61-8DD1-53268E8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7C6B281C-10E1-4B13-AD23-19F752DB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330B5056-9D33-48AB-BA31-B869FC13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67DF8628-D537-4E94-9E9B-47EF4B31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ACC935BC-A88C-4376-8FE5-BC14E815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10346335-ECBB-4CF5-9014-A5C52E3B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B23F8BD4-B96B-4196-964A-52EB50A4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7DC7D68D-823F-4710-A4A5-1B3DEEE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0A0BB0B9-994E-47B2-A248-622637C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C2643AD4-0641-472D-843D-3D16630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3EA8FF90-FA9E-406D-9F4B-2474689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C3B44352-E081-43EF-97CD-95CA9B46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6D3573FC-52DF-4F77-8976-D1E48C6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25350ECD-31B3-49E8-8637-DA30EF30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20349070-1FF9-4C68-AF12-25603F31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C3047E0C-11A7-4D5E-9D7E-0989790B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172AF741-286B-4967-8081-E0DBE509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7638EF22-7E90-4C24-8CAA-B32D6F9E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86F2AC5B-EDA1-422D-9055-9AC7F500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64DED769-FBD2-46DF-A56B-DCB58FAC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AE0C608F-ACA9-4AE5-8CBD-E0FE5D6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7211673C-1C6A-44B5-9AB7-BD7418CA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0B86375B-DC52-40DA-B80B-0C2C7CBE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701A46D4-73FF-4E34-8C83-1DCED3D2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8E61E5A2-7EF9-45A2-AD94-C1578EA7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526E44D5-E14D-48AA-9321-1984B631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8ECBCE65-AB0C-4A0D-AF61-1F07DD98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36F0536E-EF57-43C6-8166-1127F471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750E025B-CB77-453C-966A-B7121FE0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1D78BFBD-DFEB-47E0-9845-F65CEFA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6803B082-6A6F-4866-947A-41B1B3B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4660CB8F-43EA-424F-8E60-92E72D0B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40CA9801-2037-429B-A9C2-8C6EF477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E36900E4-5744-4CFC-97D8-2EBB54BE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E9C184BB-F1DA-4E8F-81AB-CC57FCE0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B997D424-0D37-4342-A0AE-4314FDCB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B9F1A4E8-5A9E-40D3-A5AC-7DA5A9BD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D242473F-274E-401F-AC82-6D82688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EE3CCA-292B-4BA1-8034-2847C24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Demo Link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1BFF78-F310-4486-A241-DDE640FD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What to share on EdStem before presenting</a:t>
            </a:r>
          </a:p>
        </p:txBody>
      </p:sp>
      <p:sp>
        <p:nvSpPr>
          <p:cNvPr id="44" name="lap-4">
            <a:extLst xmlns:a="http://schemas.openxmlformats.org/drawingml/2006/main">
              <a:ext uri="{FF2B5EF4-FFF2-40B4-BE49-F238E27FC236}">
                <a16:creationId xmlns:a16="http://schemas.microsoft.com/office/drawing/2014/main" id="{8E301D14-B4C2-4783-A95F-06B9DEBF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4">
            <a:extLst xmlns:a="http://schemas.openxmlformats.org/drawingml/2006/main">
              <a:ext uri="{FF2B5EF4-FFF2-40B4-BE49-F238E27FC236}">
                <a16:creationId xmlns:a16="http://schemas.microsoft.com/office/drawing/2014/main" id="{DF591B40-B1AB-4975-AEE3-B401FD33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4">
            <a:extLst xmlns:a="http://schemas.openxmlformats.org/drawingml/2006/main">
              <a:ext uri="{FF2B5EF4-FFF2-40B4-BE49-F238E27FC236}">
                <a16:creationId xmlns:a16="http://schemas.microsoft.com/office/drawing/2014/main" id="{02009359-C54C-49BF-9545-AF27D16D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04/11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78B016B-A210-4285-9536-866542F3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link-panel">
            <a:extLst xmlns:a="http://schemas.openxmlformats.org/drawingml/2006/main">
              <a:ext uri="{FF2B5EF4-FFF2-40B4-BE49-F238E27FC236}">
                <a16:creationId xmlns:a16="http://schemas.microsoft.com/office/drawing/2014/main" id="{DC36EDD4-3BBD-4070-B323-4BF2BC4D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3968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49" name="website-label">
            <a:extLst xmlns:a="http://schemas.openxmlformats.org/drawingml/2006/main">
              <a:ext uri="{FF2B5EF4-FFF2-40B4-BE49-F238E27FC236}">
                <a16:creationId xmlns:a16="http://schemas.microsoft.com/office/drawing/2014/main" id="{9652065F-8F16-49A0-B0C5-0E2B25F9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67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Website</a:t>
            </a:r>
          </a:p>
        </p:txBody>
      </p:sp>
      <p:sp>
        <p:nvSpPr>
          <p:cNvPr id="50" name="website-url">
            <a:extLst xmlns:a="http://schemas.openxmlformats.org/drawingml/2006/main">
              <a:ext uri="{FF2B5EF4-FFF2-40B4-BE49-F238E27FC236}">
                <a16:creationId xmlns:a16="http://schemas.microsoft.com/office/drawing/2014/main" id="{B378BA7F-4D63-477A-AC5D-676261A0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5676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D54A"/>
                </a:solidFill>
              </a:defRPr>
            </a:pPr>
            <a:r>
              <a:rPr sz="2400" b="1">
                <a:solidFill>
                  <a:srgbClr val="FFD54A"/>
                </a:solidFill>
              </a:rPr>
              <a:t>https://alejandrospot2.github.io/F1/</a:t>
            </a:r>
          </a:p>
        </p:txBody>
      </p:sp>
      <p:sp>
        <p:nvSpPr>
          <p:cNvPr id="51" name="demo-rule">
            <a:extLst xmlns:a="http://schemas.openxmlformats.org/drawingml/2006/main">
              <a:ext uri="{FF2B5EF4-FFF2-40B4-BE49-F238E27FC236}">
                <a16:creationId xmlns:a16="http://schemas.microsoft.com/office/drawing/2014/main" id="{0A1B3C4E-53C6-410B-A7B4-A6CBDDD9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567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4AA3FF"/>
            </a:solidFill>
            <a:prstDash val="solid"/>
          </a:ln>
        </p:spPr>
      </p:sp>
      <p:sp>
        <p:nvSpPr>
          <p:cNvPr id="52" name="demo-bullets-0-mark">
            <a:extLst xmlns:a="http://schemas.openxmlformats.org/drawingml/2006/main">
              <a:ext uri="{FF2B5EF4-FFF2-40B4-BE49-F238E27FC236}">
                <a16:creationId xmlns:a16="http://schemas.microsoft.com/office/drawing/2014/main" id="{272E0153-3D83-4BE2-9263-9FF9734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53" name="demo-bullets-0-text">
            <a:extLst xmlns:a="http://schemas.openxmlformats.org/drawingml/2006/main">
              <a:ext uri="{FF2B5EF4-FFF2-40B4-BE49-F238E27FC236}">
                <a16:creationId xmlns:a16="http://schemas.microsoft.com/office/drawing/2014/main" id="{80AA4602-5FBD-4E66-BAA2-919C1BC8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5295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Post this link before the live walkthrough.</a:t>
            </a:r>
          </a:p>
        </p:txBody>
      </p:sp>
      <p:sp>
        <p:nvSpPr>
          <p:cNvPr id="54" name="demo-bullets-1-mark">
            <a:extLst xmlns:a="http://schemas.openxmlformats.org/drawingml/2006/main">
              <a:ext uri="{FF2B5EF4-FFF2-40B4-BE49-F238E27FC236}">
                <a16:creationId xmlns:a16="http://schemas.microsoft.com/office/drawing/2014/main" id="{7DF7069F-26C3-410E-AAD8-063733F7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55" name="demo-bullets-1-text">
            <a:extLst xmlns:a="http://schemas.openxmlformats.org/drawingml/2006/main">
              <a:ext uri="{FF2B5EF4-FFF2-40B4-BE49-F238E27FC236}">
                <a16:creationId xmlns:a16="http://schemas.microsoft.com/office/drawing/2014/main" id="{DD78CAEC-27D1-4D83-910E-3597C87A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5295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Use the live site for interaction, hover tooltips, and chart transitions.</a:t>
            </a:r>
          </a:p>
        </p:txBody>
      </p:sp>
      <p:sp>
        <p:nvSpPr>
          <p:cNvPr id="56" name="demo-bullets-2-mark">
            <a:extLst xmlns:a="http://schemas.openxmlformats.org/drawingml/2006/main">
              <a:ext uri="{FF2B5EF4-FFF2-40B4-BE49-F238E27FC236}">
                <a16:creationId xmlns:a16="http://schemas.microsoft.com/office/drawing/2014/main" id="{5C546249-F5A2-44D1-9EAF-5169D685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57" name="demo-bullets-2-text">
            <a:extLst xmlns:a="http://schemas.openxmlformats.org/drawingml/2006/main">
              <a:ext uri="{FF2B5EF4-FFF2-40B4-BE49-F238E27FC236}">
                <a16:creationId xmlns:a16="http://schemas.microsoft.com/office/drawing/2014/main" id="{FC50B3AE-6FD4-4A04-AE33-530869C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53050"/>
            <a:ext cx="5295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Slides explain why each chart exists.</a:t>
            </a:r>
          </a:p>
        </p:txBody>
      </p:sp>
      <p:sp>
        <p:nvSpPr>
          <p:cNvPr id="58" name="demo-screenshot">
            <a:extLst xmlns:a="http://schemas.openxmlformats.org/drawingml/2006/main">
              <a:ext uri="{FF2B5EF4-FFF2-40B4-BE49-F238E27FC236}">
                <a16:creationId xmlns:a16="http://schemas.microsoft.com/office/drawing/2014/main" id="{E56661FF-DE8D-4CCD-9789-D6254F13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750" y="2171700"/>
            <a:ext cx="10005251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pic>
        <p:nvPicPr>
          <p:cNvPr id="59" name="demo-screensho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fd952112f49b1"/>
          <a:stretch xmlns:a="http://schemas.openxmlformats.org/drawingml/2006/main"/>
        </p:blipFill>
        <p:spPr>
          <a:xfrm xmlns:a="http://schemas.openxmlformats.org/drawingml/2006/main">
            <a:off x="7951375" y="23431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0" name="demo-screenshot-caption">
            <a:extLst xmlns:a="http://schemas.openxmlformats.org/drawingml/2006/main">
              <a:ext uri="{FF2B5EF4-FFF2-40B4-BE49-F238E27FC236}">
                <a16:creationId xmlns:a16="http://schemas.microsoft.com/office/drawing/2014/main" id="{1820E923-49E3-49D1-9950-2B5E9E2D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8191500"/>
            <a:ext cx="965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7D9"/>
                </a:solidFill>
              </a:defRPr>
            </a:pPr>
            <a:r>
              <a:rPr sz="1500">
                <a:solidFill>
                  <a:srgbClr val="B8C7D9"/>
                </a:solidFill>
              </a:rPr>
              <a:t>Final site hero and navigation.</a:t>
            </a:r>
          </a:p>
        </p:txBody>
      </p:sp>
    </p:spTree>
    <p:extLst>
      <p:ext uri="{BB962C8B-B14F-4D97-AF65-F5344CB8AC3E}">
        <p14:creationId xmlns:p14="http://schemas.microsoft.com/office/powerpoint/2010/main" val="6324312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5633D95-678A-4FF4-B07E-B3298977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F5BBCCAF-C34A-419B-B073-198F168B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B7B32D8A-5F10-4420-88E7-D0FB047F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2FAA5FEF-7159-437C-8668-4BBF93C4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77EF72B6-4000-449A-94C5-4FF63313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2D5CCF18-F4B4-4531-B207-82FA8B81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A7314260-99B6-4205-ADD8-B61E46C9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1C4FB6C8-13D0-42AD-B3F1-D3726D23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1CC3390A-F973-4BE7-BB42-CDCA05F8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16B95953-6B39-474B-90DF-B8C720BB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FB6C1844-E2FA-4401-9047-39B2075C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4C2C9B51-BDEB-4A51-B833-4F435B3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F3B26BA6-BB8A-4671-A284-0A9408FE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F5745B16-370B-49FE-8AC1-53195CD1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CE067CD6-8115-4F2F-B4B9-38DD4AB6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7A26AF2D-8D90-4125-B1A4-535A9C48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34B03A98-71BC-4E43-A499-435AAD4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5067B451-07EC-4DCA-93B4-B4748D61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810186F3-9084-45D2-BDE4-1C55F677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5634151C-9E6C-42A5-9896-1719F9F2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AB245469-44F8-45D2-8D85-D292DBB7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60E11D4A-65E3-4005-89C0-A0E7719D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46E79B9D-00DA-42C1-9957-28639751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D46A04C4-2DBF-4946-A477-420657F9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BD76DB10-FD1D-40C6-870F-8853EE6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75873DB6-5C6F-412C-B171-4512AFC8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0B989A72-901C-48ED-ABC0-5A27ED96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70321CEB-FF7F-4594-BB1B-877B0D14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EE0BC337-A69B-40E2-B367-2A71FC4A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7FEFD5E9-6C74-42BC-B630-AEB74308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C0AC7CCB-A691-442F-8196-F0C6DA50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DF699C22-EB73-4AD8-9609-A627495D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2D8CE947-4232-4165-B326-89371A7B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64219FC4-0920-469B-86E8-F9AB37DA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1550468C-F5DC-4756-AD07-F55071A9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4EA23245-70B0-4BE4-B7A0-4B55E99C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1EF34A82-DDA3-417D-B5A7-F34BFB77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3F9B3317-A788-4517-BEF3-959F805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FD4F7668-CA1B-4339-8F1B-C00BDD5B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12382190-6C45-4886-AC03-B68B602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F0F33DFC-BCFF-45E2-B9D1-1B332974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65BABF-5E95-4F30-B6FD-D4A06F63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Demo and Results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360C69-B3EE-4DFE-96A3-A1EF5A3E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How each visualization maps back to an objective</a:t>
            </a:r>
          </a:p>
        </p:txBody>
      </p:sp>
      <p:sp>
        <p:nvSpPr>
          <p:cNvPr id="44" name="lap-5">
            <a:extLst xmlns:a="http://schemas.openxmlformats.org/drawingml/2006/main">
              <a:ext uri="{FF2B5EF4-FFF2-40B4-BE49-F238E27FC236}">
                <a16:creationId xmlns:a16="http://schemas.microsoft.com/office/drawing/2014/main" id="{5E74FDC9-8ECF-4500-BFF1-24C6F1E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5">
            <a:extLst xmlns:a="http://schemas.openxmlformats.org/drawingml/2006/main">
              <a:ext uri="{FF2B5EF4-FFF2-40B4-BE49-F238E27FC236}">
                <a16:creationId xmlns:a16="http://schemas.microsoft.com/office/drawing/2014/main" id="{D3F1F091-A28C-4CA4-A615-09F4DDED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5">
            <a:extLst xmlns:a="http://schemas.openxmlformats.org/drawingml/2006/main">
              <a:ext uri="{FF2B5EF4-FFF2-40B4-BE49-F238E27FC236}">
                <a16:creationId xmlns:a16="http://schemas.microsoft.com/office/drawing/2014/main" id="{5BC7DE4E-BE39-402D-A53D-8AB096C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05/11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79E84DD-95EA-4A68-B4F3-3FC48C52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map-h1">
            <a:extLst xmlns:a="http://schemas.openxmlformats.org/drawingml/2006/main">
              <a:ext uri="{FF2B5EF4-FFF2-40B4-BE49-F238E27FC236}">
                <a16:creationId xmlns:a16="http://schemas.microsoft.com/office/drawing/2014/main" id="{3CA2B936-3AA3-46B3-8EB7-7754A0F4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276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VISUALIZATION</a:t>
            </a:r>
          </a:p>
        </p:txBody>
      </p:sp>
      <p:sp>
        <p:nvSpPr>
          <p:cNvPr id="49" name="map-h2">
            <a:extLst xmlns:a="http://schemas.openxmlformats.org/drawingml/2006/main">
              <a:ext uri="{FF2B5EF4-FFF2-40B4-BE49-F238E27FC236}">
                <a16:creationId xmlns:a16="http://schemas.microsoft.com/office/drawing/2014/main" id="{53F1076D-85A5-447B-9361-DF82F87F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71700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OBJECTIVE</a:t>
            </a:r>
          </a:p>
        </p:txBody>
      </p:sp>
      <p:sp>
        <p:nvSpPr>
          <p:cNvPr id="50" name="map-h3">
            <a:extLst xmlns:a="http://schemas.openxmlformats.org/drawingml/2006/main">
              <a:ext uri="{FF2B5EF4-FFF2-40B4-BE49-F238E27FC236}">
                <a16:creationId xmlns:a16="http://schemas.microsoft.com/office/drawing/2014/main" id="{5456215F-1549-4698-B071-FC6AE05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3276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RESULT ROLE</a:t>
            </a:r>
          </a:p>
        </p:txBody>
      </p:sp>
      <p:sp>
        <p:nvSpPr>
          <p:cNvPr id="51" name="mapping-row-0">
            <a:extLst xmlns:a="http://schemas.openxmlformats.org/drawingml/2006/main">
              <a:ext uri="{FF2B5EF4-FFF2-40B4-BE49-F238E27FC236}">
                <a16:creationId xmlns:a16="http://schemas.microsoft.com/office/drawing/2014/main" id="{E24F4D16-330A-4DEF-9D67-AF4D34C7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88776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52" name="map-viz-0">
            <a:extLst xmlns:a="http://schemas.openxmlformats.org/drawingml/2006/main">
              <a:ext uri="{FF2B5EF4-FFF2-40B4-BE49-F238E27FC236}">
                <a16:creationId xmlns:a16="http://schemas.microsoft.com/office/drawing/2014/main" id="{EEA622E2-F0C9-4DA9-B23A-9144DCDF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0"/>
                </a:solidFill>
              </a:defRPr>
            </a:pPr>
            <a:r>
              <a:rPr sz="1875" b="1">
                <a:solidFill>
                  <a:srgbClr val="FFF7D0"/>
                </a:solidFill>
              </a:rPr>
              <a:t>Circuit comparison bars</a:t>
            </a:r>
          </a:p>
        </p:txBody>
      </p:sp>
      <p:sp>
        <p:nvSpPr>
          <p:cNvPr id="53" name="map-obj-0">
            <a:extLst xmlns:a="http://schemas.openxmlformats.org/drawingml/2006/main">
              <a:ext uri="{FF2B5EF4-FFF2-40B4-BE49-F238E27FC236}">
                <a16:creationId xmlns:a16="http://schemas.microsoft.com/office/drawing/2014/main" id="{BF76F530-5F45-42C0-9DB9-159BE010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32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AA3FF"/>
                </a:solidFill>
              </a:defRPr>
            </a:pPr>
            <a:r>
              <a:rPr sz="1875" b="1">
                <a:solidFill>
                  <a:srgbClr val="4AA3FF"/>
                </a:solidFill>
              </a:rPr>
              <a:t>Objective 1</a:t>
            </a:r>
          </a:p>
        </p:txBody>
      </p:sp>
      <p:sp>
        <p:nvSpPr>
          <p:cNvPr id="54" name="map-role-0">
            <a:extLst xmlns:a="http://schemas.openxmlformats.org/drawingml/2006/main">
              <a:ext uri="{FF2B5EF4-FFF2-40B4-BE49-F238E27FC236}">
                <a16:creationId xmlns:a16="http://schemas.microsoft.com/office/drawing/2014/main" id="{2F7A8EA8-C2EE-45A8-9B9C-A2AF003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308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Pace and speed deltas</a:t>
            </a:r>
          </a:p>
        </p:txBody>
      </p:sp>
      <p:sp>
        <p:nvSpPr>
          <p:cNvPr id="55" name="mapping-row-1">
            <a:extLst xmlns:a="http://schemas.openxmlformats.org/drawingml/2006/main">
              <a:ext uri="{FF2B5EF4-FFF2-40B4-BE49-F238E27FC236}">
                <a16:creationId xmlns:a16="http://schemas.microsoft.com/office/drawing/2014/main" id="{A91003E9-C300-4534-B1E3-8FC0DB4C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8776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6"/>
          </a:solidFill>
        </p:spPr>
      </p:sp>
      <p:sp>
        <p:nvSpPr>
          <p:cNvPr id="56" name="map-viz-1">
            <a:extLst xmlns:a="http://schemas.openxmlformats.org/drawingml/2006/main">
              <a:ext uri="{FF2B5EF4-FFF2-40B4-BE49-F238E27FC236}">
                <a16:creationId xmlns:a16="http://schemas.microsoft.com/office/drawing/2014/main" id="{BECD854E-F940-4305-BC9A-C92E13B4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0"/>
                </a:solidFill>
              </a:defRPr>
            </a:pPr>
            <a:r>
              <a:rPr sz="1875" b="1">
                <a:solidFill>
                  <a:srgbClr val="FFF7D0"/>
                </a:solidFill>
              </a:rPr>
              <a:t>Lap-by-lap position charts</a:t>
            </a:r>
          </a:p>
        </p:txBody>
      </p:sp>
      <p:sp>
        <p:nvSpPr>
          <p:cNvPr id="57" name="map-obj-1">
            <a:extLst xmlns:a="http://schemas.openxmlformats.org/drawingml/2006/main">
              <a:ext uri="{FF2B5EF4-FFF2-40B4-BE49-F238E27FC236}">
                <a16:creationId xmlns:a16="http://schemas.microsoft.com/office/drawing/2014/main" id="{68FFE6D2-E5FE-47F6-B611-F09F7315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481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8D37A"/>
                </a:solidFill>
              </a:defRPr>
            </a:pPr>
            <a:r>
              <a:rPr sz="1875" b="1">
                <a:solidFill>
                  <a:srgbClr val="38D37A"/>
                </a:solidFill>
              </a:rPr>
              <a:t>Objective 2</a:t>
            </a:r>
          </a:p>
        </p:txBody>
      </p:sp>
      <p:sp>
        <p:nvSpPr>
          <p:cNvPr id="58" name="map-role-1">
            <a:extLst xmlns:a="http://schemas.openxmlformats.org/drawingml/2006/main">
              <a:ext uri="{FF2B5EF4-FFF2-40B4-BE49-F238E27FC236}">
                <a16:creationId xmlns:a16="http://schemas.microsoft.com/office/drawing/2014/main" id="{70F6D8B3-E711-4A15-A5D0-63827E49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308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Race order changes over time</a:t>
            </a:r>
          </a:p>
        </p:txBody>
      </p:sp>
      <p:sp>
        <p:nvSpPr>
          <p:cNvPr id="59" name="mapping-row-2">
            <a:extLst xmlns:a="http://schemas.openxmlformats.org/drawingml/2006/main">
              <a:ext uri="{FF2B5EF4-FFF2-40B4-BE49-F238E27FC236}">
                <a16:creationId xmlns:a16="http://schemas.microsoft.com/office/drawing/2014/main" id="{14522EF8-ED26-46D4-808C-179C5412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88776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60" name="map-viz-2">
            <a:extLst xmlns:a="http://schemas.openxmlformats.org/drawingml/2006/main">
              <a:ext uri="{FF2B5EF4-FFF2-40B4-BE49-F238E27FC236}">
                <a16:creationId xmlns:a16="http://schemas.microsoft.com/office/drawing/2014/main" id="{CBA69D39-7563-49EC-A404-0254CA5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0"/>
                </a:solidFill>
              </a:defRPr>
            </a:pPr>
            <a:r>
              <a:rPr sz="1875" b="1">
                <a:solidFill>
                  <a:srgbClr val="FFF7D0"/>
                </a:solidFill>
              </a:rPr>
              <a:t>Position-change slope graph</a:t>
            </a:r>
          </a:p>
        </p:txBody>
      </p:sp>
      <p:sp>
        <p:nvSpPr>
          <p:cNvPr id="61" name="map-obj-2">
            <a:extLst xmlns:a="http://schemas.openxmlformats.org/drawingml/2006/main">
              <a:ext uri="{FF2B5EF4-FFF2-40B4-BE49-F238E27FC236}">
                <a16:creationId xmlns:a16="http://schemas.microsoft.com/office/drawing/2014/main" id="{2496E637-A3CC-4A43-94B5-8748BA2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3530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8D37A"/>
                </a:solidFill>
              </a:defRPr>
            </a:pPr>
            <a:r>
              <a:rPr sz="1875" b="1">
                <a:solidFill>
                  <a:srgbClr val="38D37A"/>
                </a:solidFill>
              </a:rPr>
              <a:t>Objective 2</a:t>
            </a:r>
          </a:p>
        </p:txBody>
      </p:sp>
      <p:sp>
        <p:nvSpPr>
          <p:cNvPr id="62" name="map-role-2">
            <a:extLst xmlns:a="http://schemas.openxmlformats.org/drawingml/2006/main">
              <a:ext uri="{FF2B5EF4-FFF2-40B4-BE49-F238E27FC236}">
                <a16:creationId xmlns:a16="http://schemas.microsoft.com/office/drawing/2014/main" id="{1CAFF324-894E-4141-9640-3265540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57800"/>
            <a:ext cx="308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Movement proxy for overtaking intensity</a:t>
            </a:r>
          </a:p>
        </p:txBody>
      </p:sp>
      <p:sp>
        <p:nvSpPr>
          <p:cNvPr id="63" name="mapping-row-3">
            <a:extLst xmlns:a="http://schemas.openxmlformats.org/drawingml/2006/main">
              <a:ext uri="{FF2B5EF4-FFF2-40B4-BE49-F238E27FC236}">
                <a16:creationId xmlns:a16="http://schemas.microsoft.com/office/drawing/2014/main" id="{3104089C-A43C-446D-8956-F2A01A1A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88776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6"/>
          </a:solidFill>
        </p:spPr>
      </p:sp>
      <p:sp>
        <p:nvSpPr>
          <p:cNvPr id="64" name="map-viz-3">
            <a:extLst xmlns:a="http://schemas.openxmlformats.org/drawingml/2006/main">
              <a:ext uri="{FF2B5EF4-FFF2-40B4-BE49-F238E27FC236}">
                <a16:creationId xmlns:a16="http://schemas.microsoft.com/office/drawing/2014/main" id="{8BEE1579-C251-423F-8DA8-DF12ECE5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5795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0"/>
                </a:solidFill>
              </a:defRPr>
            </a:pPr>
            <a:r>
              <a:rPr sz="1875" b="1">
                <a:solidFill>
                  <a:srgbClr val="FFF7D0"/>
                </a:solidFill>
              </a:rPr>
              <a:t>Incident timeline heatmap</a:t>
            </a:r>
          </a:p>
        </p:txBody>
      </p:sp>
      <p:sp>
        <p:nvSpPr>
          <p:cNvPr id="65" name="map-obj-3">
            <a:extLst xmlns:a="http://schemas.openxmlformats.org/drawingml/2006/main">
              <a:ext uri="{FF2B5EF4-FFF2-40B4-BE49-F238E27FC236}">
                <a16:creationId xmlns:a16="http://schemas.microsoft.com/office/drawing/2014/main" id="{B10931A4-F029-400D-89E3-95B159FE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4579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F3F4D"/>
                </a:solidFill>
              </a:defRPr>
            </a:pPr>
            <a:r>
              <a:rPr sz="1875" b="1">
                <a:solidFill>
                  <a:srgbClr val="EF3F4D"/>
                </a:solidFill>
              </a:rPr>
              <a:t>Objective 3</a:t>
            </a:r>
          </a:p>
        </p:txBody>
      </p:sp>
      <p:sp>
        <p:nvSpPr>
          <p:cNvPr id="66" name="map-role-3">
            <a:extLst xmlns:a="http://schemas.openxmlformats.org/drawingml/2006/main">
              <a:ext uri="{FF2B5EF4-FFF2-40B4-BE49-F238E27FC236}">
                <a16:creationId xmlns:a16="http://schemas.microsoft.com/office/drawing/2014/main" id="{26BAD88C-DFF9-46F6-99B7-D47CE5F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308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DNFs, safety cars, VSCs, yellow flags</a:t>
            </a:r>
          </a:p>
        </p:txBody>
      </p:sp>
      <p:sp>
        <p:nvSpPr>
          <p:cNvPr id="67" name="mapping-row-4">
            <a:extLst xmlns:a="http://schemas.openxmlformats.org/drawingml/2006/main">
              <a:ext uri="{FF2B5EF4-FFF2-40B4-BE49-F238E27FC236}">
                <a16:creationId xmlns:a16="http://schemas.microsoft.com/office/drawing/2014/main" id="{8AEA2BB5-4C51-4606-A5F5-E98CAAB2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88776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68" name="map-viz-4">
            <a:extLst xmlns:a="http://schemas.openxmlformats.org/drawingml/2006/main">
              <a:ext uri="{FF2B5EF4-FFF2-40B4-BE49-F238E27FC236}">
                <a16:creationId xmlns:a16="http://schemas.microsoft.com/office/drawing/2014/main" id="{936ADED6-4C83-46BE-B8D3-7D1E178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6285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0"/>
                </a:solidFill>
              </a:defRPr>
            </a:pPr>
            <a:r>
              <a:rPr sz="1875" b="1">
                <a:solidFill>
                  <a:srgbClr val="FFF7D0"/>
                </a:solidFill>
              </a:rPr>
              <a:t>Final circuit scorecard</a:t>
            </a:r>
          </a:p>
        </p:txBody>
      </p:sp>
      <p:sp>
        <p:nvSpPr>
          <p:cNvPr id="69" name="map-obj-4">
            <a:extLst xmlns:a="http://schemas.openxmlformats.org/drawingml/2006/main">
              <a:ext uri="{FF2B5EF4-FFF2-40B4-BE49-F238E27FC236}">
                <a16:creationId xmlns:a16="http://schemas.microsoft.com/office/drawing/2014/main" id="{375DB55A-1B51-4BD3-9004-9B873EA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5628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54A"/>
                </a:solidFill>
              </a:defRPr>
            </a:pPr>
            <a:r>
              <a:rPr sz="1875" b="1">
                <a:solidFill>
                  <a:srgbClr val="FFD54A"/>
                </a:solidFill>
              </a:rPr>
              <a:t>Objective 4</a:t>
            </a:r>
          </a:p>
        </p:txBody>
      </p:sp>
      <p:sp>
        <p:nvSpPr>
          <p:cNvPr id="70" name="map-role-4">
            <a:extLst xmlns:a="http://schemas.openxmlformats.org/drawingml/2006/main">
              <a:ext uri="{FF2B5EF4-FFF2-40B4-BE49-F238E27FC236}">
                <a16:creationId xmlns:a16="http://schemas.microsoft.com/office/drawing/2014/main" id="{8D5C1593-7BA5-4C68-A35F-FF2323C8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581900"/>
            <a:ext cx="308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Cross-circuit synthesis</a:t>
            </a:r>
          </a:p>
        </p:txBody>
      </p:sp>
      <p:sp>
        <p:nvSpPr>
          <p:cNvPr id="71" name="pace-shot">
            <a:extLst xmlns:a="http://schemas.openxmlformats.org/drawingml/2006/main">
              <a:ext uri="{FF2B5EF4-FFF2-40B4-BE49-F238E27FC236}">
                <a16:creationId xmlns:a16="http://schemas.microsoft.com/office/drawing/2014/main" id="{516C20E1-2E85-4027-ABEE-7B4C0F77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531" y="2171700"/>
            <a:ext cx="7562469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pic>
        <p:nvPicPr>
          <p:cNvPr id="72" name="pace-sho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6685e55794324"/>
          <a:stretch xmlns:a="http://schemas.openxmlformats.org/drawingml/2006/main"/>
        </p:blipFill>
        <p:spPr>
          <a:xfrm xmlns:a="http://schemas.openxmlformats.org/drawingml/2006/main">
            <a:off x="11458766" y="2343150"/>
            <a:ext cx="4572000" cy="2857500"/>
          </a:xfrm>
          <a:prstGeom xmlns:a="http://schemas.openxmlformats.org/drawingml/2006/main" prst="rect">
            <a:avLst/>
          </a:prstGeom>
        </p:spPr>
      </p:pic>
      <p:sp>
        <p:nvSpPr>
          <p:cNvPr id="73" name="pace-shot-caption">
            <a:extLst xmlns:a="http://schemas.openxmlformats.org/drawingml/2006/main">
              <a:ext uri="{FF2B5EF4-FFF2-40B4-BE49-F238E27FC236}">
                <a16:creationId xmlns:a16="http://schemas.microsoft.com/office/drawing/2014/main" id="{3D8A09E2-9A9B-4203-93E1-27D0B36E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0"/>
            <a:ext cx="721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7D9"/>
                </a:solidFill>
              </a:defRPr>
            </a:pPr>
            <a:r>
              <a:rPr sz="1500">
                <a:solidFill>
                  <a:srgbClr val="B8C7D9"/>
                </a:solidFill>
              </a:rPr>
              <a:t>Horizontal comparison bars plus first position charts.</a:t>
            </a:r>
          </a:p>
        </p:txBody>
      </p:sp>
      <p:sp>
        <p:nvSpPr>
          <p:cNvPr id="74" name="scorecard-shot">
            <a:extLst xmlns:a="http://schemas.openxmlformats.org/drawingml/2006/main">
              <a:ext uri="{FF2B5EF4-FFF2-40B4-BE49-F238E27FC236}">
                <a16:creationId xmlns:a16="http://schemas.microsoft.com/office/drawing/2014/main" id="{29DEC538-BF4B-4FA2-AA4D-53ECA78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531" y="6048375"/>
            <a:ext cx="7562469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pic>
        <p:nvPicPr>
          <p:cNvPr id="75" name="scorecard-sho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674f7bd554fd4"/>
          <a:stretch xmlns:a="http://schemas.openxmlformats.org/drawingml/2006/main"/>
        </p:blipFill>
        <p:spPr>
          <a:xfrm xmlns:a="http://schemas.openxmlformats.org/drawingml/2006/main">
            <a:off x="11458766" y="6219825"/>
            <a:ext cx="4572000" cy="2857500"/>
          </a:xfrm>
          <a:prstGeom xmlns:a="http://schemas.openxmlformats.org/drawingml/2006/main" prst="rect">
            <a:avLst/>
          </a:prstGeom>
        </p:spPr>
      </p:pic>
      <p:sp>
        <p:nvSpPr>
          <p:cNvPr id="76" name="scorecard-shot-caption">
            <a:extLst xmlns:a="http://schemas.openxmlformats.org/drawingml/2006/main">
              <a:ext uri="{FF2B5EF4-FFF2-40B4-BE49-F238E27FC236}">
                <a16:creationId xmlns:a16="http://schemas.microsoft.com/office/drawing/2014/main" id="{1DE3C827-A89F-4000-98C6-9A8D28F4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9220200"/>
            <a:ext cx="721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7D9"/>
                </a:solidFill>
              </a:defRPr>
            </a:pPr>
            <a:r>
              <a:rPr sz="1500">
                <a:solidFill>
                  <a:srgbClr val="B8C7D9"/>
                </a:solidFill>
              </a:rPr>
              <a:t>Final scorecard with color legend.</a:t>
            </a:r>
          </a:p>
        </p:txBody>
      </p:sp>
    </p:spTree>
    <p:extLst>
      <p:ext uri="{BB962C8B-B14F-4D97-AF65-F5344CB8AC3E}">
        <p14:creationId xmlns:p14="http://schemas.microsoft.com/office/powerpoint/2010/main" val="7148934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2452925-1168-474C-A2E0-E9F7E0AE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2714ED84-1F35-4C97-8814-092BF52E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E21C1303-D0B1-4B6D-B976-8519E673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BB2C4D3E-E39F-4ED5-97CD-A8D41DC0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0894B1BF-AE7C-44D0-90E7-D6DFC600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38633E82-DEF4-44AD-96E8-9ABCD177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6590BFA2-B02C-41A9-BF20-73A2DFA8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25F3A3F7-B0A2-4410-8C55-2EFD91A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6BDAE1B4-37E7-4718-A37D-CA19208A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04A39CE5-047E-40A5-8255-FA47E643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68E28901-08E8-4A11-945C-F36937D6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0562A577-1DAC-4D1C-AED6-9B1B0E14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6D70096A-CA19-43E3-8B8D-A370B24B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020B2E93-FF51-43B1-8701-C8118C5F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92EF1F57-CF38-4BE5-B1BB-0C318070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9B7669B0-F477-4AE6-A5B9-8D44F129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21F16AAC-B08F-4F87-8F7C-482BFA92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E433EC86-D779-4308-A56D-C435C56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77BA190E-07A0-4F1C-9415-962C759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AFE4F94E-CA1D-4308-8D56-6F10ABA7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A0AACC69-8D74-46C3-8A43-4EEE2343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1E432058-7126-4707-A3DD-82D7FA9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71DC5E37-F0F5-4E28-811F-E8D3D04B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33B6728A-D8C1-4565-9AE0-F77C2BBE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1DC26AC5-A984-49E0-AAA5-A65F17B9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D85499B7-FCB1-4F61-A6ED-1EB7F8A2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064B70CA-F7E7-4E37-8352-140E9C30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658CB235-FEC9-451B-900E-94E4FC4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82BEA1E4-6D74-4A4B-B228-D54914A3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38ED22AC-5D8A-41BD-B468-A3FF79C9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76AD2575-4A24-441C-99E1-F6B7BF10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2A74E41E-A976-4AA2-9C50-B68F2A5A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1BC1260D-579E-4066-98D0-28C136B6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25F20BFA-493D-47B8-AF50-663E6A0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B126CCAB-32E2-41DB-8542-927F668D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ACCD450B-B695-41CF-B703-A4B5FF4E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734B0E64-FA12-4718-818A-A1E7A275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6347D23E-DC8E-4203-8E61-3B306193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13ACB251-A5D1-47C6-BC2A-73BEC9BC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12D3750E-85A7-49FB-A6EE-8F5A1715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A814B21C-F2A6-4503-82B8-F95741DF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B13895-4200-47B7-AC97-CFBBDAE5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Measuring Success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D42EB06-273A-4A9A-8272-77591045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The score was objective completion, not a single vanity metric</a:t>
            </a:r>
          </a:p>
        </p:txBody>
      </p:sp>
      <p:sp>
        <p:nvSpPr>
          <p:cNvPr id="44" name="lap-6">
            <a:extLst xmlns:a="http://schemas.openxmlformats.org/drawingml/2006/main">
              <a:ext uri="{FF2B5EF4-FFF2-40B4-BE49-F238E27FC236}">
                <a16:creationId xmlns:a16="http://schemas.microsoft.com/office/drawing/2014/main" id="{D12D8C6B-8912-4E9D-B7AC-BEC9F2DD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6">
            <a:extLst xmlns:a="http://schemas.openxmlformats.org/drawingml/2006/main">
              <a:ext uri="{FF2B5EF4-FFF2-40B4-BE49-F238E27FC236}">
                <a16:creationId xmlns:a16="http://schemas.microsoft.com/office/drawing/2014/main" id="{36295344-1023-40CE-96A8-67AA3291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6">
            <a:extLst xmlns:a="http://schemas.openxmlformats.org/drawingml/2006/main">
              <a:ext uri="{FF2B5EF4-FFF2-40B4-BE49-F238E27FC236}">
                <a16:creationId xmlns:a16="http://schemas.microsoft.com/office/drawing/2014/main" id="{499A9309-F5B9-4753-B938-EB58C330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06/11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F3F0945-29F0-4762-B68E-4231285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tile-DATA">
            <a:extLst xmlns:a="http://schemas.openxmlformats.org/drawingml/2006/main">
              <a:ext uri="{FF2B5EF4-FFF2-40B4-BE49-F238E27FC236}">
                <a16:creationId xmlns:a16="http://schemas.microsoft.com/office/drawing/2014/main" id="{31DAE1BD-A965-431A-B735-265A77BE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033838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49" name="tile-pixel-DATA">
            <a:extLst xmlns:a="http://schemas.openxmlformats.org/drawingml/2006/main">
              <a:ext uri="{FF2B5EF4-FFF2-40B4-BE49-F238E27FC236}">
                <a16:creationId xmlns:a16="http://schemas.microsoft.com/office/drawing/2014/main" id="{24931C90-BC1E-4F76-95C4-B6AFD8F6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50" name="tile-label-DATA">
            <a:extLst xmlns:a="http://schemas.openxmlformats.org/drawingml/2006/main">
              <a:ext uri="{FF2B5EF4-FFF2-40B4-BE49-F238E27FC236}">
                <a16:creationId xmlns:a16="http://schemas.microsoft.com/office/drawing/2014/main" id="{135022B2-6D7B-47C0-91FC-8E612215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DATA</a:t>
            </a:r>
          </a:p>
        </p:txBody>
      </p:sp>
      <p:sp>
        <p:nvSpPr>
          <p:cNvPr id="51" name="tile-value-DATA">
            <a:extLst xmlns:a="http://schemas.openxmlformats.org/drawingml/2006/main">
              <a:ext uri="{FF2B5EF4-FFF2-40B4-BE49-F238E27FC236}">
                <a16:creationId xmlns:a16="http://schemas.microsoft.com/office/drawing/2014/main" id="{DA6CC929-F564-44BF-9856-E4CE199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7D0"/>
                </a:solidFill>
              </a:defRPr>
            </a:pPr>
            <a:r>
              <a:rPr sz="2550" b="1">
                <a:solidFill>
                  <a:srgbClr val="FFF7D0"/>
                </a:solidFill>
              </a:rPr>
              <a:t>8 race payloads</a:t>
            </a:r>
          </a:p>
        </p:txBody>
      </p:sp>
      <p:sp>
        <p:nvSpPr>
          <p:cNvPr id="52" name="tile-detail-DATA">
            <a:extLst xmlns:a="http://schemas.openxmlformats.org/drawingml/2006/main">
              <a:ext uri="{FF2B5EF4-FFF2-40B4-BE49-F238E27FC236}">
                <a16:creationId xmlns:a16="http://schemas.microsoft.com/office/drawing/2014/main" id="{C1B25C59-240A-44AA-B833-EF6A16FC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354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2025 and 2026 Australia, China, Japan, and Miami from FastF1-derived files.</a:t>
            </a:r>
          </a:p>
        </p:txBody>
      </p:sp>
      <p:sp>
        <p:nvSpPr>
          <p:cNvPr id="53" name="tile-CHARTS">
            <a:extLst xmlns:a="http://schemas.openxmlformats.org/drawingml/2006/main">
              <a:ext uri="{FF2B5EF4-FFF2-40B4-BE49-F238E27FC236}">
                <a16:creationId xmlns:a16="http://schemas.microsoft.com/office/drawing/2014/main" id="{AF8C83B7-EE6E-40AE-BD8C-2AFC2CD7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8" y="2171700"/>
            <a:ext cx="4033838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54" name="tile-pixel-CHARTS">
            <a:extLst xmlns:a="http://schemas.openxmlformats.org/drawingml/2006/main">
              <a:ext uri="{FF2B5EF4-FFF2-40B4-BE49-F238E27FC236}">
                <a16:creationId xmlns:a16="http://schemas.microsoft.com/office/drawing/2014/main" id="{429D8A70-7B73-4FD7-9656-0CDF4669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38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55" name="tile-label-CHARTS">
            <a:extLst xmlns:a="http://schemas.openxmlformats.org/drawingml/2006/main">
              <a:ext uri="{FF2B5EF4-FFF2-40B4-BE49-F238E27FC236}">
                <a16:creationId xmlns:a16="http://schemas.microsoft.com/office/drawing/2014/main" id="{24AB9436-ECE9-48CC-BB47-A630DB1D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0030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CHARTS</a:t>
            </a:r>
          </a:p>
        </p:txBody>
      </p:sp>
      <p:sp>
        <p:nvSpPr>
          <p:cNvPr id="56" name="tile-value-CHARTS">
            <a:extLst xmlns:a="http://schemas.openxmlformats.org/drawingml/2006/main">
              <a:ext uri="{FF2B5EF4-FFF2-40B4-BE49-F238E27FC236}">
                <a16:creationId xmlns:a16="http://schemas.microsoft.com/office/drawing/2014/main" id="{251336E4-54A7-493B-AA68-D61D32E2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7D0"/>
                </a:solidFill>
              </a:defRPr>
            </a:pPr>
            <a:r>
              <a:rPr sz="2550" b="1">
                <a:solidFill>
                  <a:srgbClr val="FFF7D0"/>
                </a:solidFill>
              </a:rPr>
              <a:t>5 must-have views</a:t>
            </a:r>
          </a:p>
        </p:txBody>
      </p:sp>
      <p:sp>
        <p:nvSpPr>
          <p:cNvPr id="57" name="tile-detail-CHARTS">
            <a:extLst xmlns:a="http://schemas.openxmlformats.org/drawingml/2006/main">
              <a:ext uri="{FF2B5EF4-FFF2-40B4-BE49-F238E27FC236}">
                <a16:creationId xmlns:a16="http://schemas.microsoft.com/office/drawing/2014/main" id="{D83B313C-5A9A-47A1-BE9B-64C9C9B1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76600"/>
            <a:ext cx="354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Every required visualization has a clear objective mapping.</a:t>
            </a:r>
          </a:p>
        </p:txBody>
      </p:sp>
      <p:sp>
        <p:nvSpPr>
          <p:cNvPr id="58" name="tile-READABILITY">
            <a:extLst xmlns:a="http://schemas.openxmlformats.org/drawingml/2006/main">
              <a:ext uri="{FF2B5EF4-FFF2-40B4-BE49-F238E27FC236}">
                <a16:creationId xmlns:a16="http://schemas.microsoft.com/office/drawing/2014/main" id="{FEA4F1DB-A388-42E7-B048-7C95D1BC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71700"/>
            <a:ext cx="4033838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59" name="tile-pixel-READABILITY">
            <a:extLst xmlns:a="http://schemas.openxmlformats.org/drawingml/2006/main">
              <a:ext uri="{FF2B5EF4-FFF2-40B4-BE49-F238E27FC236}">
                <a16:creationId xmlns:a16="http://schemas.microsoft.com/office/drawing/2014/main" id="{D0EB889A-423E-4D4A-BB0B-0E910A8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38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60" name="tile-label-READABILITY">
            <a:extLst xmlns:a="http://schemas.openxmlformats.org/drawingml/2006/main">
              <a:ext uri="{FF2B5EF4-FFF2-40B4-BE49-F238E27FC236}">
                <a16:creationId xmlns:a16="http://schemas.microsoft.com/office/drawing/2014/main" id="{951A89C7-4F42-41F9-9D32-A02A5D1B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READABILITY</a:t>
            </a:r>
          </a:p>
        </p:txBody>
      </p:sp>
      <p:sp>
        <p:nvSpPr>
          <p:cNvPr id="61" name="tile-value-READABILITY">
            <a:extLst xmlns:a="http://schemas.openxmlformats.org/drawingml/2006/main">
              <a:ext uri="{FF2B5EF4-FFF2-40B4-BE49-F238E27FC236}">
                <a16:creationId xmlns:a16="http://schemas.microsoft.com/office/drawing/2014/main" id="{6DD2D60A-0586-4FF8-B453-2826DE14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6225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7D0"/>
                </a:solidFill>
              </a:defRPr>
            </a:pPr>
            <a:r>
              <a:rPr sz="2550" b="1">
                <a:solidFill>
                  <a:srgbClr val="FFF7D0"/>
                </a:solidFill>
              </a:rPr>
              <a:t>Lower F1 barrier</a:t>
            </a:r>
          </a:p>
        </p:txBody>
      </p:sp>
      <p:sp>
        <p:nvSpPr>
          <p:cNvPr id="62" name="tile-detail-READABILITY">
            <a:extLst xmlns:a="http://schemas.openxmlformats.org/drawingml/2006/main">
              <a:ext uri="{FF2B5EF4-FFF2-40B4-BE49-F238E27FC236}">
                <a16:creationId xmlns:a16="http://schemas.microsoft.com/office/drawing/2014/main" id="{2CF869C5-BC53-4F08-9BD5-743AE9E7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76600"/>
            <a:ext cx="35433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Short chart descriptions, legends, tooltips, labels, and d3 number formatting.</a:t>
            </a:r>
          </a:p>
        </p:txBody>
      </p:sp>
      <p:sp>
        <p:nvSpPr>
          <p:cNvPr id="63" name="tile-STABILITY">
            <a:extLst xmlns:a="http://schemas.openxmlformats.org/drawingml/2006/main">
              <a:ext uri="{FF2B5EF4-FFF2-40B4-BE49-F238E27FC236}">
                <a16:creationId xmlns:a16="http://schemas.microsoft.com/office/drawing/2014/main" id="{70182282-D8C3-4B7A-AF20-12A8AA0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163" y="2171700"/>
            <a:ext cx="4033838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64" name="tile-pixel-STABILITY">
            <a:extLst xmlns:a="http://schemas.openxmlformats.org/drawingml/2006/main">
              <a:ext uri="{FF2B5EF4-FFF2-40B4-BE49-F238E27FC236}">
                <a16:creationId xmlns:a16="http://schemas.microsoft.com/office/drawing/2014/main" id="{0348748C-7C24-423B-8CF7-4F89BA33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438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65" name="tile-label-STABILITY">
            <a:extLst xmlns:a="http://schemas.openxmlformats.org/drawingml/2006/main">
              <a:ext uri="{FF2B5EF4-FFF2-40B4-BE49-F238E27FC236}">
                <a16:creationId xmlns:a16="http://schemas.microsoft.com/office/drawing/2014/main" id="{44059D0A-D56B-499E-90CD-B6740B65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40030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STABILITY</a:t>
            </a:r>
          </a:p>
        </p:txBody>
      </p:sp>
      <p:sp>
        <p:nvSpPr>
          <p:cNvPr id="66" name="tile-value-STABILITY">
            <a:extLst xmlns:a="http://schemas.openxmlformats.org/drawingml/2006/main">
              <a:ext uri="{FF2B5EF4-FFF2-40B4-BE49-F238E27FC236}">
                <a16:creationId xmlns:a16="http://schemas.microsoft.com/office/drawing/2014/main" id="{2D512E83-0B42-4433-9E2E-8C3A8E3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276225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7D0"/>
                </a:solidFill>
              </a:defRPr>
            </a:pPr>
            <a:r>
              <a:rPr sz="2550" b="1">
                <a:solidFill>
                  <a:srgbClr val="FFF7D0"/>
                </a:solidFill>
              </a:rPr>
              <a:t>Verified demo path</a:t>
            </a:r>
          </a:p>
        </p:txBody>
      </p:sp>
      <p:sp>
        <p:nvSpPr>
          <p:cNvPr id="67" name="tile-detail-STABILITY">
            <a:extLst xmlns:a="http://schemas.openxmlformats.org/drawingml/2006/main">
              <a:ext uri="{FF2B5EF4-FFF2-40B4-BE49-F238E27FC236}">
                <a16:creationId xmlns:a16="http://schemas.microsoft.com/office/drawing/2014/main" id="{AFC42755-A710-49B1-80DE-70D27A9C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3276600"/>
            <a:ext cx="354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Browser checks and a public GitHub Pages target for the live walkthrough.</a:t>
            </a:r>
          </a:p>
        </p:txBody>
      </p:sp>
    </p:spTree>
    <p:extLst>
      <p:ext uri="{BB962C8B-B14F-4D97-AF65-F5344CB8AC3E}">
        <p14:creationId xmlns:p14="http://schemas.microsoft.com/office/powerpoint/2010/main" val="7015964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AEC288D-5D65-43EC-BEEA-C50923C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D6039B23-F8B3-44E1-82EE-175D1949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42C90EE3-68F4-4676-A769-81047D3E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7EFDA88A-9F41-4650-8D18-E9D0B4E8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DC27F402-F5CE-47A6-A211-B87C7370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B2E31785-3008-4897-93BB-7BA2260F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8BE93942-2336-4126-920E-DCF8234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02E303F6-8AAD-492C-917E-38CB558E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892FF5BA-9C89-4AE6-975D-8E717202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D2736F4B-DBAA-47C8-95F5-A2F1F3D4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CFEDAA19-D6CB-461D-A1BF-29EA0217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67E89764-525C-473F-B291-BA4F1E3A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94F08BB0-C98E-4DD1-B336-0A6C84B9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95E42565-E91D-4D0B-91BF-4C288107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31767395-4108-47E6-A86E-181202FA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2FFEA1EE-5C37-4358-88AF-4E0F8608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EB529A3C-9839-4354-AFC8-136B06C4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162CCDDA-14D1-4CDF-BE75-88B374B6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A78C7D08-4461-402C-A56E-1E220B03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33841E72-7EBE-4D8E-92A4-CFC2F34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EB639B33-8C6D-4418-A93A-FA590253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14B88816-174C-43AA-8B33-E5752D56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0D112C20-2407-4048-83B5-8A2E327B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C0260B01-94BE-4F59-A063-9039823F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566FC424-65F7-4675-BFE0-A90BE95A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CF4517AD-FEFB-438D-BB33-5394611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F0C551FE-3A6D-4E84-BC33-547F88D5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C44E4691-D06E-490E-B4CB-FFD0EBF8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9371A704-1975-44BA-B88B-6653B42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94A96D92-70E3-4E26-A82D-2AAA8A62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1169C776-CA91-4B87-803C-8147644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8376B5DF-68B3-405D-9D5B-A9149E96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CCE78086-0876-45D7-894A-043A6634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E9DDC382-97D4-4C32-B80A-514DA084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6FA41774-F32E-43B2-AAE5-02251F0C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9D9A76A6-719B-4FD6-B95E-EAE2C67B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88732C47-9AEA-4CC2-A4B6-CE1F41A9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EC9D0F37-44AE-4563-BA38-24969A0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7AAAE930-B340-4597-B8FA-F6CF9B6D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4F2E5E14-18FC-4B66-83F1-BA26B202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16D9CC1D-76D5-4A25-96FD-840554B2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51B0AB-1D9A-47D0-9CAE-17416C12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New Updates Since Beta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EB0A917-93AE-4C8E-8673-D27F9EEC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Feedback incorporated into the final release</a:t>
            </a:r>
          </a:p>
        </p:txBody>
      </p:sp>
      <p:sp>
        <p:nvSpPr>
          <p:cNvPr id="44" name="lap-7">
            <a:extLst xmlns:a="http://schemas.openxmlformats.org/drawingml/2006/main">
              <a:ext uri="{FF2B5EF4-FFF2-40B4-BE49-F238E27FC236}">
                <a16:creationId xmlns:a16="http://schemas.microsoft.com/office/drawing/2014/main" id="{20F30ED6-0D69-479D-9287-032EED84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7">
            <a:extLst xmlns:a="http://schemas.openxmlformats.org/drawingml/2006/main">
              <a:ext uri="{FF2B5EF4-FFF2-40B4-BE49-F238E27FC236}">
                <a16:creationId xmlns:a16="http://schemas.microsoft.com/office/drawing/2014/main" id="{9DB818D6-6232-47F3-A722-AAC36F12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7">
            <a:extLst xmlns:a="http://schemas.openxmlformats.org/drawingml/2006/main">
              <a:ext uri="{FF2B5EF4-FFF2-40B4-BE49-F238E27FC236}">
                <a16:creationId xmlns:a16="http://schemas.microsoft.com/office/drawing/2014/main" id="{34B56EF6-4A71-4991-B8F5-7B892FAF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07/11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1E288F5-FCB6-4C62-80D6-43309075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updates-left-0-mark">
            <a:extLst xmlns:a="http://schemas.openxmlformats.org/drawingml/2006/main">
              <a:ext uri="{FF2B5EF4-FFF2-40B4-BE49-F238E27FC236}">
                <a16:creationId xmlns:a16="http://schemas.microsoft.com/office/drawing/2014/main" id="{8FC85E8E-DCA1-4A08-A6A0-1808A50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49" name="updates-left-0-text">
            <a:extLst xmlns:a="http://schemas.openxmlformats.org/drawingml/2006/main">
              <a:ext uri="{FF2B5EF4-FFF2-40B4-BE49-F238E27FC236}">
                <a16:creationId xmlns:a16="http://schemas.microsoft.com/office/drawing/2014/main" id="{5337D340-2A3D-4D51-B5D8-3176E46C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7829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Added simple color legends and hover tooltips across the visualizations.</a:t>
            </a:r>
          </a:p>
        </p:txBody>
      </p:sp>
      <p:sp>
        <p:nvSpPr>
          <p:cNvPr id="50" name="updates-left-1-mark">
            <a:extLst xmlns:a="http://schemas.openxmlformats.org/drawingml/2006/main">
              <a:ext uri="{FF2B5EF4-FFF2-40B4-BE49-F238E27FC236}">
                <a16:creationId xmlns:a16="http://schemas.microsoft.com/office/drawing/2014/main" id="{041815BD-5A15-4873-A362-71C54A4C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51" name="updates-left-1-text">
            <a:extLst xmlns:a="http://schemas.openxmlformats.org/drawingml/2006/main">
              <a:ext uri="{FF2B5EF4-FFF2-40B4-BE49-F238E27FC236}">
                <a16:creationId xmlns:a16="http://schemas.microsoft.com/office/drawing/2014/main" id="{97F997A8-F54C-47A6-827A-ECD8C66D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7829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Changed the first comparison bars to horizontal bars for easier scanning.</a:t>
            </a:r>
          </a:p>
        </p:txBody>
      </p:sp>
      <p:sp>
        <p:nvSpPr>
          <p:cNvPr id="52" name="updates-left-2-mark">
            <a:extLst xmlns:a="http://schemas.openxmlformats.org/drawingml/2006/main">
              <a:ext uri="{FF2B5EF4-FFF2-40B4-BE49-F238E27FC236}">
                <a16:creationId xmlns:a16="http://schemas.microsoft.com/office/drawing/2014/main" id="{BCDA7F50-8C9A-49CD-84ED-A32263A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53" name="updates-left-2-text">
            <a:extLst xmlns:a="http://schemas.openxmlformats.org/drawingml/2006/main">
              <a:ext uri="{FF2B5EF4-FFF2-40B4-BE49-F238E27FC236}">
                <a16:creationId xmlns:a16="http://schemas.microsoft.com/office/drawing/2014/main" id="{474192CD-1526-41D2-8929-1B2776BF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782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Replaced the position-change bar chart with a slope graph.</a:t>
            </a:r>
          </a:p>
        </p:txBody>
      </p:sp>
      <p:sp>
        <p:nvSpPr>
          <p:cNvPr id="54" name="updates-left-3-mark">
            <a:extLst xmlns:a="http://schemas.openxmlformats.org/drawingml/2006/main">
              <a:ext uri="{FF2B5EF4-FFF2-40B4-BE49-F238E27FC236}">
                <a16:creationId xmlns:a16="http://schemas.microsoft.com/office/drawing/2014/main" id="{564EE185-58B4-495E-A88B-B074585D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55" name="updates-left-3-text">
            <a:extLst xmlns:a="http://schemas.openxmlformats.org/drawingml/2006/main">
              <a:ext uri="{FF2B5EF4-FFF2-40B4-BE49-F238E27FC236}">
                <a16:creationId xmlns:a16="http://schemas.microsoft.com/office/drawing/2014/main" id="{BBB8176C-6BC3-439E-8DE1-2DE99EA6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782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Fixed low-contrast Mercedes line colors.</a:t>
            </a:r>
          </a:p>
        </p:txBody>
      </p:sp>
      <p:sp>
        <p:nvSpPr>
          <p:cNvPr id="56" name="updates-right-0-mark">
            <a:extLst xmlns:a="http://schemas.openxmlformats.org/drawingml/2006/main">
              <a:ext uri="{FF2B5EF4-FFF2-40B4-BE49-F238E27FC236}">
                <a16:creationId xmlns:a16="http://schemas.microsoft.com/office/drawing/2014/main" id="{282B552C-E372-4AE3-B9A4-6E43572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57" name="updates-right-0-text">
            <a:extLst xmlns:a="http://schemas.openxmlformats.org/drawingml/2006/main">
              <a:ext uri="{FF2B5EF4-FFF2-40B4-BE49-F238E27FC236}">
                <a16:creationId xmlns:a16="http://schemas.microsoft.com/office/drawing/2014/main" id="{AA9988A9-77CB-4DC9-937B-22E80914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71700"/>
            <a:ext cx="7829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Fixed incident and neutralization status colors so everything is not a yellow flag.</a:t>
            </a:r>
          </a:p>
        </p:txBody>
      </p:sp>
      <p:sp>
        <p:nvSpPr>
          <p:cNvPr id="58" name="updates-right-1-mark">
            <a:extLst xmlns:a="http://schemas.openxmlformats.org/drawingml/2006/main">
              <a:ext uri="{FF2B5EF4-FFF2-40B4-BE49-F238E27FC236}">
                <a16:creationId xmlns:a16="http://schemas.microsoft.com/office/drawing/2014/main" id="{D2FA9754-5DDE-4BA6-8A81-EFE55A56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86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59" name="updates-right-1-text">
            <a:extLst xmlns:a="http://schemas.openxmlformats.org/drawingml/2006/main">
              <a:ext uri="{FF2B5EF4-FFF2-40B4-BE49-F238E27FC236}">
                <a16:creationId xmlns:a16="http://schemas.microsoft.com/office/drawing/2014/main" id="{350762B2-62B4-4E3E-9E65-4538580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782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Added the final chart color legend.</a:t>
            </a:r>
          </a:p>
        </p:txBody>
      </p:sp>
      <p:sp>
        <p:nvSpPr>
          <p:cNvPr id="60" name="updates-right-2-mark">
            <a:extLst xmlns:a="http://schemas.openxmlformats.org/drawingml/2006/main">
              <a:ext uri="{FF2B5EF4-FFF2-40B4-BE49-F238E27FC236}">
                <a16:creationId xmlns:a16="http://schemas.microsoft.com/office/drawing/2014/main" id="{7CC9FA58-043D-47D0-ADDC-9C9B04A7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1" name="updates-right-2-text">
            <a:extLst xmlns:a="http://schemas.openxmlformats.org/drawingml/2006/main">
              <a:ext uri="{FF2B5EF4-FFF2-40B4-BE49-F238E27FC236}">
                <a16:creationId xmlns:a16="http://schemas.microsoft.com/office/drawing/2014/main" id="{F6A5BBB5-DF0C-4754-A4EF-B6CF61D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782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Used d3 formatting to reduce distracting decimals.</a:t>
            </a:r>
          </a:p>
        </p:txBody>
      </p:sp>
      <p:sp>
        <p:nvSpPr>
          <p:cNvPr id="62" name="updates-right-3-mark">
            <a:extLst xmlns:a="http://schemas.openxmlformats.org/drawingml/2006/main">
              <a:ext uri="{FF2B5EF4-FFF2-40B4-BE49-F238E27FC236}">
                <a16:creationId xmlns:a16="http://schemas.microsoft.com/office/drawing/2014/main" id="{A2573A80-A2EC-4538-AE6C-E9574F3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63" name="updates-right-3-text">
            <a:extLst xmlns:a="http://schemas.openxmlformats.org/drawingml/2006/main">
              <a:ext uri="{FF2B5EF4-FFF2-40B4-BE49-F238E27FC236}">
                <a16:creationId xmlns:a16="http://schemas.microsoft.com/office/drawing/2014/main" id="{03A39BFE-424E-4372-8CA0-56A2F475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76700"/>
            <a:ext cx="7829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Added newcomer-friendly descriptions before each chart, plus 2025/2026 Miami data.</a:t>
            </a:r>
          </a:p>
        </p:txBody>
      </p:sp>
    </p:spTree>
    <p:extLst>
      <p:ext uri="{BB962C8B-B14F-4D97-AF65-F5344CB8AC3E}">
        <p14:creationId xmlns:p14="http://schemas.microsoft.com/office/powerpoint/2010/main" val="4535575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9DAD236-AD61-4C5A-9D5E-EFD0477C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548388D9-E799-492A-910F-8D57F0F7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20F74CDC-4BE3-4463-8865-135BDDD7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AA41D366-9A67-42D9-A19C-A4FFB9F3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F30DAEA6-A03E-46AA-854F-7302430D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435866D4-837F-45FD-9C2E-214D10D9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D27C1EA9-2103-4802-A04F-7377E3F1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BBC56EEE-E7A8-4A0B-876E-0504F010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4108F9AF-2CDC-4FC7-AE61-2362F6FC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BF1E3EF5-54E7-423D-8A7C-0AFD9137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FCFCF928-59BE-4C05-8130-6AE01D30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B869E2DB-7A40-4EA6-B30B-A80A76C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B5A1207B-7950-4DBC-87F4-7A8710E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743C57BE-3B66-475E-92B5-E47153C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80FD7D81-CD63-4EA8-9385-E43E05B9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EEC010D1-B8E8-46AC-A4DF-FDD38DB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82C816FC-4ABD-4778-9338-EC013FE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16707707-D075-4508-B149-987BABF9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1B73A48C-C8E2-4BFA-AD20-3CE24001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B4F0C730-3E0F-414A-87A4-3275EA6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981DC02A-5BE2-4A57-BAC8-658B5756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9ABDE425-1A8D-4BAD-A7AE-7EECF15A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050377E9-310C-4F9C-AB98-732F5D8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6AA81D13-9B29-4D30-9F4E-30438696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6A8BCCF3-8CD5-4D77-A01F-DFFB1A8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A874ADD9-9410-4261-B4FB-7702731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B2207D4A-B4EC-4B4F-9E85-6A180D12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A0800CF3-684A-4E0B-B9E1-CE6FAF80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B4587F4B-B8DD-48D5-9D69-345F8F3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E481675B-1606-4970-888B-91835CE7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3E7CCB2C-34A5-452E-9B51-3577E65C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30C59560-A13F-487A-B46F-2AFF103F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EE56E785-5BCF-4484-B1F9-F8F780E5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BE2C1C9D-AFB0-40EB-9240-70ED0320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4D29718D-A320-422F-9B7A-7FDAAD00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49EA419A-A269-4D26-8685-2980F75F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4FD1294E-78CF-44DB-85EF-3BCF2491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EBCE7574-B187-496F-8639-3699DE8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F5B3B1FB-C1E6-40CA-8575-72B03EA6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7325FBAF-700B-44EC-BDE3-35A19A2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EF86E425-EF6A-4B71-A7FF-AEF685F2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458BAA-2B3A-4974-A1FE-C83ADF1D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Approaches Tried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A87795-2A8A-42B3-9584-7601B897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What worked, and what created too much complexity</a:t>
            </a:r>
          </a:p>
        </p:txBody>
      </p:sp>
      <p:sp>
        <p:nvSpPr>
          <p:cNvPr id="44" name="lap-8">
            <a:extLst xmlns:a="http://schemas.openxmlformats.org/drawingml/2006/main">
              <a:ext uri="{FF2B5EF4-FFF2-40B4-BE49-F238E27FC236}">
                <a16:creationId xmlns:a16="http://schemas.microsoft.com/office/drawing/2014/main" id="{A594A2AF-F5CB-4B30-8351-AA206BE7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8">
            <a:extLst xmlns:a="http://schemas.openxmlformats.org/drawingml/2006/main">
              <a:ext uri="{FF2B5EF4-FFF2-40B4-BE49-F238E27FC236}">
                <a16:creationId xmlns:a16="http://schemas.microsoft.com/office/drawing/2014/main" id="{14B6F138-F7A8-4132-9F44-88ABD204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8">
            <a:extLst xmlns:a="http://schemas.openxmlformats.org/drawingml/2006/main">
              <a:ext uri="{FF2B5EF4-FFF2-40B4-BE49-F238E27FC236}">
                <a16:creationId xmlns:a16="http://schemas.microsoft.com/office/drawing/2014/main" id="{34CD07DA-1EE4-4B2C-8D45-9B52502B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08/11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9F409A7-40F1-4E82-8807-B3D024E0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arcade-shot">
            <a:extLst xmlns:a="http://schemas.openxmlformats.org/drawingml/2006/main">
              <a:ext uri="{FF2B5EF4-FFF2-40B4-BE49-F238E27FC236}">
                <a16:creationId xmlns:a16="http://schemas.microsoft.com/office/drawing/2014/main" id="{0EEE34A7-7E82-468D-8205-929A01A5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8258175" cy="635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pic>
        <p:nvPicPr>
          <p:cNvPr id="49" name="arcade-sho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3e1e830574d98"/>
          <a:stretch xmlns:a="http://schemas.openxmlformats.org/drawingml/2006/main"/>
        </p:blipFill>
        <p:spPr>
          <a:xfrm xmlns:a="http://schemas.openxmlformats.org/drawingml/2006/main">
            <a:off x="1081088" y="23431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50" name="arcade-shot-caption">
            <a:extLst xmlns:a="http://schemas.openxmlformats.org/drawingml/2006/main">
              <a:ext uri="{FF2B5EF4-FFF2-40B4-BE49-F238E27FC236}">
                <a16:creationId xmlns:a16="http://schemas.microsoft.com/office/drawing/2014/main" id="{7242472A-411E-480E-9AB5-184E1EDE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39000"/>
            <a:ext cx="792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7D9"/>
                </a:solidFill>
              </a:defRPr>
            </a:pPr>
            <a:r>
              <a:rPr sz="1500">
                <a:solidFill>
                  <a:srgbClr val="B8C7D9"/>
                </a:solidFill>
              </a:rPr>
              <a:t>Animation-heavy arcade/scrollytelling experiment.</a:t>
            </a:r>
          </a:p>
        </p:txBody>
      </p:sp>
      <p:sp>
        <p:nvSpPr>
          <p:cNvPr id="51" name="final-shot">
            <a:extLst xmlns:a="http://schemas.openxmlformats.org/drawingml/2006/main">
              <a:ext uri="{FF2B5EF4-FFF2-40B4-BE49-F238E27FC236}">
                <a16:creationId xmlns:a16="http://schemas.microsoft.com/office/drawing/2014/main" id="{24D942B4-A94B-4462-940E-C22678A4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71700"/>
            <a:ext cx="8258175" cy="635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pic>
        <p:nvPicPr>
          <p:cNvPr id="52" name="final-sho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4bc9b9ba4bfc"/>
          <a:stretch xmlns:a="http://schemas.openxmlformats.org/drawingml/2006/main"/>
        </p:blipFill>
        <p:spPr>
          <a:xfrm xmlns:a="http://schemas.openxmlformats.org/drawingml/2006/main">
            <a:off x="9586913" y="23431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53" name="final-shot-caption">
            <a:extLst xmlns:a="http://schemas.openxmlformats.org/drawingml/2006/main">
              <a:ext uri="{FF2B5EF4-FFF2-40B4-BE49-F238E27FC236}">
                <a16:creationId xmlns:a16="http://schemas.microsoft.com/office/drawing/2014/main" id="{5E5CA85B-7926-4AB8-ABFC-AA4AEF1E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239000"/>
            <a:ext cx="792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7D9"/>
                </a:solidFill>
              </a:defRPr>
            </a:pPr>
            <a:r>
              <a:rPr sz="1500">
                <a:solidFill>
                  <a:srgbClr val="B8C7D9"/>
                </a:solidFill>
              </a:rPr>
              <a:t>Final guided D3 layout: less flashy, more dependable.</a:t>
            </a:r>
          </a:p>
        </p:txBody>
      </p:sp>
      <p:sp>
        <p:nvSpPr>
          <p:cNvPr id="54" name="approach-note">
            <a:extLst xmlns:a="http://schemas.openxmlformats.org/drawingml/2006/main">
              <a:ext uri="{FF2B5EF4-FFF2-40B4-BE49-F238E27FC236}">
                <a16:creationId xmlns:a16="http://schemas.microsoft.com/office/drawing/2014/main" id="{7332361E-F7FB-4091-9833-437FB110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17280"/>
            <a:ext cx="16764000" cy="103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832"/>
          </a:solidFill>
        </p:spPr>
      </p:sp>
      <p:sp>
        <p:nvSpPr>
          <p:cNvPr id="55" name="approach-note-copy">
            <a:extLst xmlns:a="http://schemas.openxmlformats.org/drawingml/2006/main">
              <a:ext uri="{FF2B5EF4-FFF2-40B4-BE49-F238E27FC236}">
                <a16:creationId xmlns:a16="http://schemas.microsoft.com/office/drawing/2014/main" id="{CF85211C-FEE1-472C-A4AA-290A8314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934450"/>
            <a:ext cx="16230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FEBC2"/>
                </a:solidFill>
              </a:defRPr>
            </a:pPr>
            <a:r>
              <a:rPr sz="2025">
                <a:solidFill>
                  <a:srgbClr val="FFEBC2"/>
                </a:solidFill>
              </a:rPr>
              <a:t>The arcade branch had stronger motion and personality, but it added a new layer of frontend complexity. For a data visualization class, the final version keeps the style while protecting chart readability and demo stability.</a:t>
            </a:r>
          </a:p>
        </p:txBody>
      </p:sp>
    </p:spTree>
    <p:extLst>
      <p:ext uri="{BB962C8B-B14F-4D97-AF65-F5344CB8AC3E}">
        <p14:creationId xmlns:p14="http://schemas.microsoft.com/office/powerpoint/2010/main" val="9874339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55A0609-44E8-49BB-8035-975DD6A0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FDE4A15F-9175-439A-AA12-CC5AE077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F992D706-18E0-4F8F-98E4-D2D9C3D2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63F6F975-DD2A-4AC7-AD52-191A1AF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9CFC4123-A068-4726-A452-6B26C754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2593A275-E2C9-46D5-92A4-92D2FAE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FFB431E1-C567-4137-9E14-04FC3D8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1D8456B3-EF3F-4BD3-9B6F-572BB1A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95C1A148-9AD1-48A9-B765-42C16DFC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6D62E133-572D-4AD3-98B4-4CF40817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FB6F0AC5-4541-43CF-A21E-AA12CC13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3E61D056-CD1D-4C25-AC64-6AD1DF3D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F6BB90F2-4C18-4B9E-876B-D381611C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14EF387A-A31C-4219-BCE7-A21500A0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B362AB9A-A54E-462D-847C-D95E001F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43DE7C8B-5A16-4AB5-8583-3D5AEF2F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145589EE-1A6F-499C-946A-5325BF5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6720F29D-FF09-440B-93A2-111DA7D6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3C1C7179-B2CC-4AA6-953F-B259D7CC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462A4DA9-6AEF-4AD8-BED1-0F30225C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1DEE2DB8-1074-4E38-9C97-C1098C17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B2DDC897-52B3-46CF-8862-2449836E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A5BE97CF-7817-4002-8B8A-4A381419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3B5C6EB2-3928-487B-9460-03A1A59B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DDE1E557-B0E9-49FC-9C0F-1BA27DD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B0A2D5F2-EBEE-4150-9F06-B02FABE8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EDD28A5C-FA62-4030-95CC-FECA4E1C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EF8E35A1-0777-4AD1-ABE2-9CCDCA3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B581BF98-1389-4784-B748-C75FB57A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E4BB59D7-7476-4F83-BF9D-C88D4F86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CA6C2C83-A6AA-434D-A5F0-C7485A65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5F7ED6BB-C2DC-4E2A-822B-A5B04DCC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2F3FC5E9-0957-4E93-BBED-735BEBAF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14C3BBBE-4792-497B-920D-0847ED74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14F517F4-BAA9-4097-AEA6-CBFEFC7C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3445D5C3-FD79-4910-AC92-5FA14843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B209432E-3B6A-4462-A420-CC4689BF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51A2A380-87BD-4C4F-9AB3-745F9EAF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58CF0AB9-A20D-4CBB-88EA-8B8CBB90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18712127-A1B9-408D-B2B1-6F7C09B4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BAD52CBD-7689-448D-B609-8183417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8C8620-2047-4501-98D2-B49B342C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Discussion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4993C9-0524-44A3-B2E4-AFCBD40D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Is the approach promising?</a:t>
            </a:r>
          </a:p>
        </p:txBody>
      </p:sp>
      <p:sp>
        <p:nvSpPr>
          <p:cNvPr id="44" name="lap-9">
            <a:extLst xmlns:a="http://schemas.openxmlformats.org/drawingml/2006/main">
              <a:ext uri="{FF2B5EF4-FFF2-40B4-BE49-F238E27FC236}">
                <a16:creationId xmlns:a16="http://schemas.microsoft.com/office/drawing/2014/main" id="{3716184B-4B14-4BAF-A519-F157EEB9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9">
            <a:extLst xmlns:a="http://schemas.openxmlformats.org/drawingml/2006/main">
              <a:ext uri="{FF2B5EF4-FFF2-40B4-BE49-F238E27FC236}">
                <a16:creationId xmlns:a16="http://schemas.microsoft.com/office/drawing/2014/main" id="{3EBD0C92-1BD0-46E1-BD55-4B7528BE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9">
            <a:extLst xmlns:a="http://schemas.openxmlformats.org/drawingml/2006/main">
              <a:ext uri="{FF2B5EF4-FFF2-40B4-BE49-F238E27FC236}">
                <a16:creationId xmlns:a16="http://schemas.microsoft.com/office/drawing/2014/main" id="{480CBF5F-19DE-48C8-8FA2-40BE5681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09/11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C391E3B-C38E-4448-824A-1BE17886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promising-panel">
            <a:extLst xmlns:a="http://schemas.openxmlformats.org/drawingml/2006/main">
              <a:ext uri="{FF2B5EF4-FFF2-40B4-BE49-F238E27FC236}">
                <a16:creationId xmlns:a16="http://schemas.microsoft.com/office/drawing/2014/main" id="{78B20407-D8E5-485A-8F2F-D053331C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8601075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49" name="promising-claim">
            <a:extLst xmlns:a="http://schemas.openxmlformats.org/drawingml/2006/main">
              <a:ext uri="{FF2B5EF4-FFF2-40B4-BE49-F238E27FC236}">
                <a16:creationId xmlns:a16="http://schemas.microsoft.com/office/drawing/2014/main" id="{BC72C7B2-D8D2-4257-98AE-27AB8928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33650"/>
            <a:ext cx="78105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D0"/>
                </a:solidFill>
              </a:defRPr>
            </a:pPr>
            <a:r>
              <a:rPr sz="3150" b="1">
                <a:solidFill>
                  <a:srgbClr val="FFF7D0"/>
                </a:solidFill>
              </a:rPr>
              <a:t>Yes. A guided comparison is promising because the question is not just 'who won?' but 'what changed?'</a:t>
            </a:r>
          </a:p>
        </p:txBody>
      </p:sp>
      <p:sp>
        <p:nvSpPr>
          <p:cNvPr id="50" name="discussion-bullets-0-mark">
            <a:extLst xmlns:a="http://schemas.openxmlformats.org/drawingml/2006/main">
              <a:ext uri="{FF2B5EF4-FFF2-40B4-BE49-F238E27FC236}">
                <a16:creationId xmlns:a16="http://schemas.microsoft.com/office/drawing/2014/main" id="{72E13BE2-0207-46C1-87D6-9011857D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51" name="discussion-bullets-0-text">
            <a:extLst xmlns:a="http://schemas.openxmlformats.org/drawingml/2006/main">
              <a:ext uri="{FF2B5EF4-FFF2-40B4-BE49-F238E27FC236}">
                <a16:creationId xmlns:a16="http://schemas.microsoft.com/office/drawing/2014/main" id="{0F363D9B-73EC-42CE-A06E-6C23FB08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91000"/>
            <a:ext cx="742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Same circuits make the season comparison fairer.</a:t>
            </a:r>
          </a:p>
        </p:txBody>
      </p:sp>
      <p:sp>
        <p:nvSpPr>
          <p:cNvPr id="52" name="discussion-bullets-1-mark">
            <a:extLst xmlns:a="http://schemas.openxmlformats.org/drawingml/2006/main">
              <a:ext uri="{FF2B5EF4-FFF2-40B4-BE49-F238E27FC236}">
                <a16:creationId xmlns:a16="http://schemas.microsoft.com/office/drawing/2014/main" id="{708F872B-8919-4245-A2C4-CDA82359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53" name="discussion-bullets-1-text">
            <a:extLst xmlns:a="http://schemas.openxmlformats.org/drawingml/2006/main">
              <a:ext uri="{FF2B5EF4-FFF2-40B4-BE49-F238E27FC236}">
                <a16:creationId xmlns:a16="http://schemas.microsoft.com/office/drawing/2014/main" id="{533BA97F-4BB0-4305-B2F5-5929B2F2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24400"/>
            <a:ext cx="742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Multiple chart types separate pace, movement, and disruption.</a:t>
            </a:r>
          </a:p>
        </p:txBody>
      </p:sp>
      <p:sp>
        <p:nvSpPr>
          <p:cNvPr id="54" name="discussion-bullets-2-mark">
            <a:extLst xmlns:a="http://schemas.openxmlformats.org/drawingml/2006/main">
              <a:ext uri="{FF2B5EF4-FFF2-40B4-BE49-F238E27FC236}">
                <a16:creationId xmlns:a16="http://schemas.microsoft.com/office/drawing/2014/main" id="{5BF2BD5D-179E-4E12-8631-8ADDA3EB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55" name="discussion-bullets-2-text">
            <a:extLst xmlns:a="http://schemas.openxmlformats.org/drawingml/2006/main">
              <a:ext uri="{FF2B5EF4-FFF2-40B4-BE49-F238E27FC236}">
                <a16:creationId xmlns:a16="http://schemas.microsoft.com/office/drawing/2014/main" id="{4D89576D-F90C-473C-9CCC-18FE9FDF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742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The final scorecard prevents overclaiming from one race.</a:t>
            </a:r>
          </a:p>
        </p:txBody>
      </p:sp>
      <p:sp>
        <p:nvSpPr>
          <p:cNvPr id="56" name="variant-panel">
            <a:extLst xmlns:a="http://schemas.openxmlformats.org/drawingml/2006/main">
              <a:ext uri="{FF2B5EF4-FFF2-40B4-BE49-F238E27FC236}">
                <a16:creationId xmlns:a16="http://schemas.microsoft.com/office/drawing/2014/main" id="{65CA9B33-7241-464D-B7B5-D7DA3B2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171700"/>
            <a:ext cx="7781925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32"/>
          </a:solidFill>
        </p:spPr>
      </p:sp>
      <p:sp>
        <p:nvSpPr>
          <p:cNvPr id="57" name="variant-title">
            <a:extLst xmlns:a="http://schemas.openxmlformats.org/drawingml/2006/main">
              <a:ext uri="{FF2B5EF4-FFF2-40B4-BE49-F238E27FC236}">
                <a16:creationId xmlns:a16="http://schemas.microsoft.com/office/drawing/2014/main" id="{6BC15641-916B-46FF-ACA5-D52F56C7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14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D54A"/>
                </a:solidFill>
              </a:defRPr>
            </a:pPr>
            <a:r>
              <a:rPr sz="2475" b="1">
                <a:solidFill>
                  <a:srgbClr val="FFD54A"/>
                </a:solidFill>
              </a:rPr>
              <a:t>Better variant later:</a:t>
            </a:r>
          </a:p>
        </p:txBody>
      </p:sp>
      <p:sp>
        <p:nvSpPr>
          <p:cNvPr id="58" name="variant-copy">
            <a:extLst xmlns:a="http://schemas.openxmlformats.org/drawingml/2006/main">
              <a:ext uri="{FF2B5EF4-FFF2-40B4-BE49-F238E27FC236}">
                <a16:creationId xmlns:a16="http://schemas.microsoft.com/office/drawing/2014/main" id="{4E0CD6E4-D8B3-412D-8623-34156E52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62300"/>
            <a:ext cx="714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EBC2"/>
                </a:solidFill>
              </a:defRPr>
            </a:pPr>
            <a:r>
              <a:rPr sz="2175">
                <a:solidFill>
                  <a:srgbClr val="FFEBC2"/>
                </a:solidFill>
              </a:rPr>
              <a:t>A more scrollytelling-transition-focused version could work once the data pipeline and charts are fully stable.</a:t>
            </a:r>
          </a:p>
        </p:txBody>
      </p:sp>
      <p:sp>
        <p:nvSpPr>
          <p:cNvPr id="59" name="clarity-meter-label">
            <a:extLst xmlns:a="http://schemas.openxmlformats.org/drawingml/2006/main">
              <a:ext uri="{FF2B5EF4-FFF2-40B4-BE49-F238E27FC236}">
                <a16:creationId xmlns:a16="http://schemas.microsoft.com/office/drawing/2014/main" id="{8B12D52C-F112-41F4-9B32-D5E7308A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114800"/>
            <a:ext cx="672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7D0"/>
                </a:solidFill>
              </a:defRPr>
            </a:pPr>
            <a:r>
              <a:rPr sz="1650" b="1">
                <a:solidFill>
                  <a:srgbClr val="FFF7D0"/>
                </a:solidFill>
              </a:rPr>
              <a:t>Data clarity</a:t>
            </a:r>
          </a:p>
        </p:txBody>
      </p:sp>
      <p:sp>
        <p:nvSpPr>
          <p:cNvPr id="60" name="clarity-meter-value">
            <a:extLst xmlns:a="http://schemas.openxmlformats.org/drawingml/2006/main">
              <a:ext uri="{FF2B5EF4-FFF2-40B4-BE49-F238E27FC236}">
                <a16:creationId xmlns:a16="http://schemas.microsoft.com/office/drawing/2014/main" id="{40E00AD1-B7AC-4A3A-887E-88C23A21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4114800"/>
            <a:ext cx="400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8D37A"/>
                </a:solidFill>
              </a:defRPr>
            </a:pPr>
            <a:r>
              <a:rPr sz="1650" b="1">
                <a:solidFill>
                  <a:srgbClr val="38D37A"/>
                </a:solidFill>
              </a:rPr>
              <a:t>9/10</a:t>
            </a:r>
          </a:p>
        </p:txBody>
      </p:sp>
      <p:sp>
        <p:nvSpPr>
          <p:cNvPr id="61" name="clarity-meter-block-0">
            <a:extLst xmlns:a="http://schemas.openxmlformats.org/drawingml/2006/main">
              <a:ext uri="{FF2B5EF4-FFF2-40B4-BE49-F238E27FC236}">
                <a16:creationId xmlns:a16="http://schemas.microsoft.com/office/drawing/2014/main" id="{5C80D33F-B2DB-4960-914A-977C14D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2" name="clarity-meter-block-1">
            <a:extLst xmlns:a="http://schemas.openxmlformats.org/drawingml/2006/main">
              <a:ext uri="{FF2B5EF4-FFF2-40B4-BE49-F238E27FC236}">
                <a16:creationId xmlns:a16="http://schemas.microsoft.com/office/drawing/2014/main" id="{E854126E-642E-4FD5-B5EA-34FE7334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3" name="clarity-meter-block-2">
            <a:extLst xmlns:a="http://schemas.openxmlformats.org/drawingml/2006/main">
              <a:ext uri="{FF2B5EF4-FFF2-40B4-BE49-F238E27FC236}">
                <a16:creationId xmlns:a16="http://schemas.microsoft.com/office/drawing/2014/main" id="{FF6B9F9C-6653-4A63-B99B-DE079DD2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4" name="clarity-meter-block-3">
            <a:extLst xmlns:a="http://schemas.openxmlformats.org/drawingml/2006/main">
              <a:ext uri="{FF2B5EF4-FFF2-40B4-BE49-F238E27FC236}">
                <a16:creationId xmlns:a16="http://schemas.microsoft.com/office/drawing/2014/main" id="{F39EFE81-B258-4FBF-B98D-15937E73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5" name="clarity-meter-block-4">
            <a:extLst xmlns:a="http://schemas.openxmlformats.org/drawingml/2006/main">
              <a:ext uri="{FF2B5EF4-FFF2-40B4-BE49-F238E27FC236}">
                <a16:creationId xmlns:a16="http://schemas.microsoft.com/office/drawing/2014/main" id="{ABABF908-CF4C-455D-9C6D-A53551B3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6" name="clarity-meter-block-5">
            <a:extLst xmlns:a="http://schemas.openxmlformats.org/drawingml/2006/main">
              <a:ext uri="{FF2B5EF4-FFF2-40B4-BE49-F238E27FC236}">
                <a16:creationId xmlns:a16="http://schemas.microsoft.com/office/drawing/2014/main" id="{735C730F-08A6-4901-BF2C-508E8FD4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7" name="clarity-meter-block-6">
            <a:extLst xmlns:a="http://schemas.openxmlformats.org/drawingml/2006/main">
              <a:ext uri="{FF2B5EF4-FFF2-40B4-BE49-F238E27FC236}">
                <a16:creationId xmlns:a16="http://schemas.microsoft.com/office/drawing/2014/main" id="{6956F875-17C1-499B-AF8A-BFD23CD4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8" name="clarity-meter-block-7">
            <a:extLst xmlns:a="http://schemas.openxmlformats.org/drawingml/2006/main">
              <a:ext uri="{FF2B5EF4-FFF2-40B4-BE49-F238E27FC236}">
                <a16:creationId xmlns:a16="http://schemas.microsoft.com/office/drawing/2014/main" id="{F82A69FA-3489-47A9-85B6-093CC1F9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9" name="clarity-meter-block-8">
            <a:extLst xmlns:a="http://schemas.openxmlformats.org/drawingml/2006/main">
              <a:ext uri="{FF2B5EF4-FFF2-40B4-BE49-F238E27FC236}">
                <a16:creationId xmlns:a16="http://schemas.microsoft.com/office/drawing/2014/main" id="{F1092237-FEC6-4633-8E05-2A8FEF89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70" name="clarity-meter-block-9">
            <a:extLst xmlns:a="http://schemas.openxmlformats.org/drawingml/2006/main">
              <a:ext uri="{FF2B5EF4-FFF2-40B4-BE49-F238E27FC236}">
                <a16:creationId xmlns:a16="http://schemas.microsoft.com/office/drawing/2014/main" id="{65A68DE6-285C-4302-A47B-7C7C69E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46863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50"/>
          </a:solidFill>
        </p:spPr>
      </p:sp>
      <p:sp>
        <p:nvSpPr>
          <p:cNvPr id="71" name="motion-meter-label">
            <a:extLst xmlns:a="http://schemas.openxmlformats.org/drawingml/2006/main">
              <a:ext uri="{FF2B5EF4-FFF2-40B4-BE49-F238E27FC236}">
                <a16:creationId xmlns:a16="http://schemas.microsoft.com/office/drawing/2014/main" id="{ECAFDF86-1ED7-4D40-B658-FFFE789F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19700"/>
            <a:ext cx="672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7D0"/>
                </a:solidFill>
              </a:defRPr>
            </a:pPr>
            <a:r>
              <a:rPr sz="1650" b="1">
                <a:solidFill>
                  <a:srgbClr val="FFF7D0"/>
                </a:solidFill>
              </a:rPr>
              <a:t>Arcade motion</a:t>
            </a:r>
          </a:p>
        </p:txBody>
      </p:sp>
      <p:sp>
        <p:nvSpPr>
          <p:cNvPr id="72" name="motion-meter-value">
            <a:extLst xmlns:a="http://schemas.openxmlformats.org/drawingml/2006/main">
              <a:ext uri="{FF2B5EF4-FFF2-40B4-BE49-F238E27FC236}">
                <a16:creationId xmlns:a16="http://schemas.microsoft.com/office/drawing/2014/main" id="{047003EF-FC21-431B-9219-F3D57B10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5219700"/>
            <a:ext cx="400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A2A"/>
                </a:solidFill>
              </a:defRPr>
            </a:pPr>
            <a:r>
              <a:rPr sz="1650" b="1">
                <a:solidFill>
                  <a:srgbClr val="FF8A2A"/>
                </a:solidFill>
              </a:rPr>
              <a:t>5/10</a:t>
            </a:r>
          </a:p>
        </p:txBody>
      </p:sp>
      <p:sp>
        <p:nvSpPr>
          <p:cNvPr id="73" name="motion-meter-block-0">
            <a:extLst xmlns:a="http://schemas.openxmlformats.org/drawingml/2006/main">
              <a:ext uri="{FF2B5EF4-FFF2-40B4-BE49-F238E27FC236}">
                <a16:creationId xmlns:a16="http://schemas.microsoft.com/office/drawing/2014/main" id="{37FDACF1-5C77-4A2E-B133-72A77A3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74" name="motion-meter-block-1">
            <a:extLst xmlns:a="http://schemas.openxmlformats.org/drawingml/2006/main">
              <a:ext uri="{FF2B5EF4-FFF2-40B4-BE49-F238E27FC236}">
                <a16:creationId xmlns:a16="http://schemas.microsoft.com/office/drawing/2014/main" id="{DDB8B22B-2B3B-49EF-832C-06BA3D20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75" name="motion-meter-block-2">
            <a:extLst xmlns:a="http://schemas.openxmlformats.org/drawingml/2006/main">
              <a:ext uri="{FF2B5EF4-FFF2-40B4-BE49-F238E27FC236}">
                <a16:creationId xmlns:a16="http://schemas.microsoft.com/office/drawing/2014/main" id="{A24B689F-D447-45BF-966D-28EDB152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76" name="motion-meter-block-3">
            <a:extLst xmlns:a="http://schemas.openxmlformats.org/drawingml/2006/main">
              <a:ext uri="{FF2B5EF4-FFF2-40B4-BE49-F238E27FC236}">
                <a16:creationId xmlns:a16="http://schemas.microsoft.com/office/drawing/2014/main" id="{C5C9E6ED-8E77-4E67-8329-C84108C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77" name="motion-meter-block-4">
            <a:extLst xmlns:a="http://schemas.openxmlformats.org/drawingml/2006/main">
              <a:ext uri="{FF2B5EF4-FFF2-40B4-BE49-F238E27FC236}">
                <a16:creationId xmlns:a16="http://schemas.microsoft.com/office/drawing/2014/main" id="{4FE696E4-E256-488A-9518-C1C075D8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78" name="motion-meter-block-5">
            <a:extLst xmlns:a="http://schemas.openxmlformats.org/drawingml/2006/main">
              <a:ext uri="{FF2B5EF4-FFF2-40B4-BE49-F238E27FC236}">
                <a16:creationId xmlns:a16="http://schemas.microsoft.com/office/drawing/2014/main" id="{D068D268-C75C-42EA-B5DC-991E0DE4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50"/>
          </a:solidFill>
        </p:spPr>
      </p:sp>
      <p:sp>
        <p:nvSpPr>
          <p:cNvPr id="79" name="motion-meter-block-6">
            <a:extLst xmlns:a="http://schemas.openxmlformats.org/drawingml/2006/main">
              <a:ext uri="{FF2B5EF4-FFF2-40B4-BE49-F238E27FC236}">
                <a16:creationId xmlns:a16="http://schemas.microsoft.com/office/drawing/2014/main" id="{2A716FFF-A6F5-4A5D-8B91-BF2D66C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50"/>
          </a:solidFill>
        </p:spPr>
      </p:sp>
      <p:sp>
        <p:nvSpPr>
          <p:cNvPr id="80" name="motion-meter-block-7">
            <a:extLst xmlns:a="http://schemas.openxmlformats.org/drawingml/2006/main">
              <a:ext uri="{FF2B5EF4-FFF2-40B4-BE49-F238E27FC236}">
                <a16:creationId xmlns:a16="http://schemas.microsoft.com/office/drawing/2014/main" id="{AF04A349-AA21-49DD-ADC0-578F559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50"/>
          </a:solidFill>
        </p:spPr>
      </p:sp>
      <p:sp>
        <p:nvSpPr>
          <p:cNvPr id="81" name="motion-meter-block-8">
            <a:extLst xmlns:a="http://schemas.openxmlformats.org/drawingml/2006/main">
              <a:ext uri="{FF2B5EF4-FFF2-40B4-BE49-F238E27FC236}">
                <a16:creationId xmlns:a16="http://schemas.microsoft.com/office/drawing/2014/main" id="{DEDAAB53-8DAA-469B-BB85-1CBE2B4C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50"/>
          </a:solidFill>
        </p:spPr>
      </p:sp>
      <p:sp>
        <p:nvSpPr>
          <p:cNvPr id="82" name="motion-meter-block-9">
            <a:extLst xmlns:a="http://schemas.openxmlformats.org/drawingml/2006/main">
              <a:ext uri="{FF2B5EF4-FFF2-40B4-BE49-F238E27FC236}">
                <a16:creationId xmlns:a16="http://schemas.microsoft.com/office/drawing/2014/main" id="{51B62005-E2AD-4B28-A519-3088C9E4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5791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50"/>
          </a:solidFill>
        </p:spPr>
      </p:sp>
      <p:sp>
        <p:nvSpPr>
          <p:cNvPr id="83" name="future-meter-label">
            <a:extLst xmlns:a="http://schemas.openxmlformats.org/drawingml/2006/main">
              <a:ext uri="{FF2B5EF4-FFF2-40B4-BE49-F238E27FC236}">
                <a16:creationId xmlns:a16="http://schemas.microsoft.com/office/drawing/2014/main" id="{278DE77A-072F-43F3-82E0-B50B3A6B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672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7D0"/>
                </a:solidFill>
              </a:defRPr>
            </a:pPr>
            <a:r>
              <a:rPr sz="1650" b="1">
                <a:solidFill>
                  <a:srgbClr val="FFF7D0"/>
                </a:solidFill>
              </a:rPr>
              <a:t>Future scrollytelling potential</a:t>
            </a:r>
          </a:p>
        </p:txBody>
      </p:sp>
      <p:sp>
        <p:nvSpPr>
          <p:cNvPr id="84" name="future-meter-value">
            <a:extLst xmlns:a="http://schemas.openxmlformats.org/drawingml/2006/main">
              <a:ext uri="{FF2B5EF4-FFF2-40B4-BE49-F238E27FC236}">
                <a16:creationId xmlns:a16="http://schemas.microsoft.com/office/drawing/2014/main" id="{2ABC19C4-5F33-43BA-A57B-EE655A0E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6324600"/>
            <a:ext cx="400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79FF"/>
                </a:solidFill>
              </a:defRPr>
            </a:pPr>
            <a:r>
              <a:rPr sz="1650" b="1">
                <a:solidFill>
                  <a:srgbClr val="B879FF"/>
                </a:solidFill>
              </a:rPr>
              <a:t>8/10</a:t>
            </a:r>
          </a:p>
        </p:txBody>
      </p:sp>
      <p:sp>
        <p:nvSpPr>
          <p:cNvPr id="85" name="future-meter-block-0">
            <a:extLst xmlns:a="http://schemas.openxmlformats.org/drawingml/2006/main">
              <a:ext uri="{FF2B5EF4-FFF2-40B4-BE49-F238E27FC236}">
                <a16:creationId xmlns:a16="http://schemas.microsoft.com/office/drawing/2014/main" id="{B051D81A-B158-40BA-953B-8F4F9DD1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86" name="future-meter-block-1">
            <a:extLst xmlns:a="http://schemas.openxmlformats.org/drawingml/2006/main">
              <a:ext uri="{FF2B5EF4-FFF2-40B4-BE49-F238E27FC236}">
                <a16:creationId xmlns:a16="http://schemas.microsoft.com/office/drawing/2014/main" id="{9B157410-2926-4860-B5E9-ADFC3D2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87" name="future-meter-block-2">
            <a:extLst xmlns:a="http://schemas.openxmlformats.org/drawingml/2006/main">
              <a:ext uri="{FF2B5EF4-FFF2-40B4-BE49-F238E27FC236}">
                <a16:creationId xmlns:a16="http://schemas.microsoft.com/office/drawing/2014/main" id="{12DF6212-A37A-45BA-8A94-B26B0666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88" name="future-meter-block-3">
            <a:extLst xmlns:a="http://schemas.openxmlformats.org/drawingml/2006/main">
              <a:ext uri="{FF2B5EF4-FFF2-40B4-BE49-F238E27FC236}">
                <a16:creationId xmlns:a16="http://schemas.microsoft.com/office/drawing/2014/main" id="{036D4D03-4A89-41E4-979D-5F82E758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89" name="future-meter-block-4">
            <a:extLst xmlns:a="http://schemas.openxmlformats.org/drawingml/2006/main">
              <a:ext uri="{FF2B5EF4-FFF2-40B4-BE49-F238E27FC236}">
                <a16:creationId xmlns:a16="http://schemas.microsoft.com/office/drawing/2014/main" id="{8D37668D-0396-47AA-93C8-3A61BD8D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90" name="future-meter-block-5">
            <a:extLst xmlns:a="http://schemas.openxmlformats.org/drawingml/2006/main">
              <a:ext uri="{FF2B5EF4-FFF2-40B4-BE49-F238E27FC236}">
                <a16:creationId xmlns:a16="http://schemas.microsoft.com/office/drawing/2014/main" id="{ED7D4B74-36ED-4038-A8D7-1771EDBF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91" name="future-meter-block-6">
            <a:extLst xmlns:a="http://schemas.openxmlformats.org/drawingml/2006/main">
              <a:ext uri="{FF2B5EF4-FFF2-40B4-BE49-F238E27FC236}">
                <a16:creationId xmlns:a16="http://schemas.microsoft.com/office/drawing/2014/main" id="{FA82ED01-4F4D-4CB9-8083-D1A95E4D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92" name="future-meter-block-7">
            <a:extLst xmlns:a="http://schemas.openxmlformats.org/drawingml/2006/main">
              <a:ext uri="{FF2B5EF4-FFF2-40B4-BE49-F238E27FC236}">
                <a16:creationId xmlns:a16="http://schemas.microsoft.com/office/drawing/2014/main" id="{0FE1D8C2-ADC3-49A7-AFAA-493C968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93" name="future-meter-block-8">
            <a:extLst xmlns:a="http://schemas.openxmlformats.org/drawingml/2006/main">
              <a:ext uri="{FF2B5EF4-FFF2-40B4-BE49-F238E27FC236}">
                <a16:creationId xmlns:a16="http://schemas.microsoft.com/office/drawing/2014/main" id="{E22F9B93-0E17-47D6-9D65-8A0C7ECF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50"/>
          </a:solidFill>
        </p:spPr>
      </p:sp>
      <p:sp>
        <p:nvSpPr>
          <p:cNvPr id="94" name="future-meter-block-9">
            <a:extLst xmlns:a="http://schemas.openxmlformats.org/drawingml/2006/main">
              <a:ext uri="{FF2B5EF4-FFF2-40B4-BE49-F238E27FC236}">
                <a16:creationId xmlns:a16="http://schemas.microsoft.com/office/drawing/2014/main" id="{8DD7E5C8-11E4-4D56-9DE4-B3ECEB3C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68961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50"/>
          </a:solidFill>
        </p:spPr>
      </p:sp>
    </p:spTree>
    <p:extLst>
      <p:ext uri="{BB962C8B-B14F-4D97-AF65-F5344CB8AC3E}">
        <p14:creationId xmlns:p14="http://schemas.microsoft.com/office/powerpoint/2010/main" val="14536411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3283278-C7B9-4178-B97B-1EC2D04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DAC3725C-BCA1-4AB0-8227-53325407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4B6FC0CB-F1B3-449A-8D80-322F9E40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234C8EF5-7241-47E3-8D78-24337A72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3DDA3C6D-D7B3-4E49-AB53-DEBBD24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28B860BA-2B5B-46A4-9470-CA4366DE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3CDC4DCE-7EF0-4535-AA33-C1121596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B2B81C51-013F-4995-A933-F8A9B5DE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2ECBCACF-DBFC-4FE9-9FAD-D77FB2AD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AEA3A419-38C8-4622-AE82-F5393B0A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49351E44-4F85-4839-A7E7-CD43E1FD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F97CEA8A-7BC2-4ADD-876D-FF27E425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BFDEAFAC-A5D3-407D-9388-A4C85E2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7D129AE1-EFF5-4D15-A0F8-9A0C0924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6975F825-2D7C-492B-9B5B-7D0AF8AE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43BBB45E-FE01-42D3-9E61-3CBF5DAC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B33560B8-A4D7-4E88-9E2B-D7C67E00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A97ED5C2-8C8E-457C-A604-FCDEECF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9CFF798D-679A-4A25-917E-C22EE7A9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A4085184-61C2-40EC-8B98-27ACD9CF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857CDB47-0AD9-4DFE-A95A-3C0CD084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499595F8-1E9A-477B-96F3-2C628EBF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3AE30BDF-4407-4C14-A198-423DCC00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BC24ECFD-8572-4EAD-9542-B70B8291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395E3E9C-67A6-4D5A-A24A-47FD14E5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94012AA2-5B31-4710-B752-197D4E01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25523B05-5D06-43AF-84D0-78DC8817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6DFEAB3A-7C83-4E65-9966-EB6E891F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5BC577E3-5F51-45EA-A573-37BF07D8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E11F4BB9-490A-433D-9D5C-C8F1E1BD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F4F850BB-E671-4F34-9D5B-30B79175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300E1F26-750C-45F7-A391-53A2F6C5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7E092FC6-1659-44BB-B6B2-6038F7E2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733CD045-75DE-45A5-AA5D-09554EA1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D0041B19-0689-4FE2-95A9-2602D79E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B1D29A10-C000-49ED-8757-2C47E525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D6B3008F-28CC-4C14-B5BD-4A7E5B6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33876CB0-FEA6-4719-9722-55DDC7A5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D2425BC1-8EF8-4840-AA20-D0B736FC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0001DA83-0353-411B-AEA0-610F2FB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8327CB9B-D995-4EE1-B337-F5EA1E1A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071987-FA69-474E-8809-C08728F4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Problems and Reflection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B02806-4B3A-4C67-B786-38B216BF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What I would do differently starting again</a:t>
            </a:r>
          </a:p>
        </p:txBody>
      </p:sp>
      <p:sp>
        <p:nvSpPr>
          <p:cNvPr id="44" name="lap-10">
            <a:extLst xmlns:a="http://schemas.openxmlformats.org/drawingml/2006/main">
              <a:ext uri="{FF2B5EF4-FFF2-40B4-BE49-F238E27FC236}">
                <a16:creationId xmlns:a16="http://schemas.microsoft.com/office/drawing/2014/main" id="{E29A1AA2-3AF3-40E8-8A99-9FCC8353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10">
            <a:extLst xmlns:a="http://schemas.openxmlformats.org/drawingml/2006/main">
              <a:ext uri="{FF2B5EF4-FFF2-40B4-BE49-F238E27FC236}">
                <a16:creationId xmlns:a16="http://schemas.microsoft.com/office/drawing/2014/main" id="{06B525CB-D247-47A0-A66B-8569C451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10">
            <a:extLst xmlns:a="http://schemas.openxmlformats.org/drawingml/2006/main">
              <a:ext uri="{FF2B5EF4-FFF2-40B4-BE49-F238E27FC236}">
                <a16:creationId xmlns:a16="http://schemas.microsoft.com/office/drawing/2014/main" id="{C97F1961-3D47-4539-B1DE-F9145DA9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10/11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1B2CFA8-0B41-4030-855D-331D26A9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problems-panel">
            <a:extLst xmlns:a="http://schemas.openxmlformats.org/drawingml/2006/main">
              <a:ext uri="{FF2B5EF4-FFF2-40B4-BE49-F238E27FC236}">
                <a16:creationId xmlns:a16="http://schemas.microsoft.com/office/drawing/2014/main" id="{F2B8E8CA-5294-45CE-9C9A-1C8F3F8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821055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35"/>
          </a:solidFill>
        </p:spPr>
      </p:sp>
      <p:sp>
        <p:nvSpPr>
          <p:cNvPr id="49" name="problems-title">
            <a:extLst xmlns:a="http://schemas.openxmlformats.org/drawingml/2006/main">
              <a:ext uri="{FF2B5EF4-FFF2-40B4-BE49-F238E27FC236}">
                <a16:creationId xmlns:a16="http://schemas.microsoft.com/office/drawing/2014/main" id="{935D147F-FC1B-427F-B055-0A8ED17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752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F3F4D"/>
                </a:solidFill>
              </a:defRPr>
            </a:pPr>
            <a:r>
              <a:rPr sz="2700" b="1">
                <a:solidFill>
                  <a:srgbClr val="EF3F4D"/>
                </a:solidFill>
              </a:rPr>
              <a:t>Problems I ran into</a:t>
            </a:r>
          </a:p>
        </p:txBody>
      </p:sp>
      <p:sp>
        <p:nvSpPr>
          <p:cNvPr id="50" name="problems-bullets-0-mark">
            <a:extLst xmlns:a="http://schemas.openxmlformats.org/drawingml/2006/main">
              <a:ext uri="{FF2B5EF4-FFF2-40B4-BE49-F238E27FC236}">
                <a16:creationId xmlns:a16="http://schemas.microsoft.com/office/drawing/2014/main" id="{FB9C0E8D-91B3-456A-9EEA-6BF580C9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51" name="problems-bullets-0-text">
            <a:extLst xmlns:a="http://schemas.openxmlformats.org/drawingml/2006/main">
              <a:ext uri="{FF2B5EF4-FFF2-40B4-BE49-F238E27FC236}">
                <a16:creationId xmlns:a16="http://schemas.microsoft.com/office/drawing/2014/main" id="{EC4B1519-A110-49AB-A576-F7CDE57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24200"/>
            <a:ext cx="714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FastF1 and race-control data needed extra validation.</a:t>
            </a:r>
          </a:p>
        </p:txBody>
      </p:sp>
      <p:sp>
        <p:nvSpPr>
          <p:cNvPr id="52" name="problems-bullets-1-mark">
            <a:extLst xmlns:a="http://schemas.openxmlformats.org/drawingml/2006/main">
              <a:ext uri="{FF2B5EF4-FFF2-40B4-BE49-F238E27FC236}">
                <a16:creationId xmlns:a16="http://schemas.microsoft.com/office/drawing/2014/main" id="{172CC53B-5B63-4570-8C90-F6E642A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53" name="problems-bullets-1-text">
            <a:extLst xmlns:a="http://schemas.openxmlformats.org/drawingml/2006/main">
              <a:ext uri="{FF2B5EF4-FFF2-40B4-BE49-F238E27FC236}">
                <a16:creationId xmlns:a16="http://schemas.microsoft.com/office/drawing/2014/main" id="{84A7A5C4-3948-4EB4-B8F1-3F788A0D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57600"/>
            <a:ext cx="7143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Track-status colors initially collapsed too many incidents into yellow flags.</a:t>
            </a:r>
          </a:p>
        </p:txBody>
      </p:sp>
      <p:sp>
        <p:nvSpPr>
          <p:cNvPr id="54" name="problems-bullets-2-mark">
            <a:extLst xmlns:a="http://schemas.openxmlformats.org/drawingml/2006/main">
              <a:ext uri="{FF2B5EF4-FFF2-40B4-BE49-F238E27FC236}">
                <a16:creationId xmlns:a16="http://schemas.microsoft.com/office/drawing/2014/main" id="{B74FFB1D-4E6D-4659-B933-2F052871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55" name="problems-bullets-2-text">
            <a:extLst xmlns:a="http://schemas.openxmlformats.org/drawingml/2006/main">
              <a:ext uri="{FF2B5EF4-FFF2-40B4-BE49-F238E27FC236}">
                <a16:creationId xmlns:a16="http://schemas.microsoft.com/office/drawing/2014/main" id="{6D9571DA-B618-4905-B10D-EB707294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714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F1-specific terms made the site harder for non-fans.</a:t>
            </a:r>
          </a:p>
        </p:txBody>
      </p:sp>
      <p:sp>
        <p:nvSpPr>
          <p:cNvPr id="56" name="problems-bullets-3-mark">
            <a:extLst xmlns:a="http://schemas.openxmlformats.org/drawingml/2006/main">
              <a:ext uri="{FF2B5EF4-FFF2-40B4-BE49-F238E27FC236}">
                <a16:creationId xmlns:a16="http://schemas.microsoft.com/office/drawing/2014/main" id="{DEB4958B-6432-48BA-AD89-A143CC8C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57" name="problems-bullets-3-text">
            <a:extLst xmlns:a="http://schemas.openxmlformats.org/drawingml/2006/main">
              <a:ext uri="{FF2B5EF4-FFF2-40B4-BE49-F238E27FC236}">
                <a16:creationId xmlns:a16="http://schemas.microsoft.com/office/drawing/2014/main" id="{CC036FEA-8356-4EAE-A122-A01A6A14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29200"/>
            <a:ext cx="714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The animation-heavy version broke too much for the payoff.</a:t>
            </a:r>
          </a:p>
        </p:txBody>
      </p:sp>
      <p:sp>
        <p:nvSpPr>
          <p:cNvPr id="58" name="change-panel">
            <a:extLst xmlns:a="http://schemas.openxmlformats.org/drawingml/2006/main">
              <a:ext uri="{FF2B5EF4-FFF2-40B4-BE49-F238E27FC236}">
                <a16:creationId xmlns:a16="http://schemas.microsoft.com/office/drawing/2014/main" id="{438A2208-516E-479B-9D0E-794C52A1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821055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E"/>
          </a:solidFill>
        </p:spPr>
      </p:sp>
      <p:sp>
        <p:nvSpPr>
          <p:cNvPr id="59" name="change-title">
            <a:extLst xmlns:a="http://schemas.openxmlformats.org/drawingml/2006/main">
              <a:ext uri="{FF2B5EF4-FFF2-40B4-BE49-F238E27FC236}">
                <a16:creationId xmlns:a16="http://schemas.microsoft.com/office/drawing/2014/main" id="{C3B5AEFA-9229-4074-895F-C3E5AACC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752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8D37A"/>
                </a:solidFill>
              </a:defRPr>
            </a:pPr>
            <a:r>
              <a:rPr sz="2700" b="1">
                <a:solidFill>
                  <a:srgbClr val="38D37A"/>
                </a:solidFill>
              </a:rPr>
              <a:t>Starting again, I would</a:t>
            </a:r>
          </a:p>
        </p:txBody>
      </p:sp>
      <p:sp>
        <p:nvSpPr>
          <p:cNvPr id="60" name="change-bullets-0-mark">
            <a:extLst xmlns:a="http://schemas.openxmlformats.org/drawingml/2006/main">
              <a:ext uri="{FF2B5EF4-FFF2-40B4-BE49-F238E27FC236}">
                <a16:creationId xmlns:a16="http://schemas.microsoft.com/office/drawing/2014/main" id="{633DF2C0-B977-4927-B0E6-761BDDA0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0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1" name="change-bullets-0-text">
            <a:extLst xmlns:a="http://schemas.openxmlformats.org/drawingml/2006/main">
              <a:ext uri="{FF2B5EF4-FFF2-40B4-BE49-F238E27FC236}">
                <a16:creationId xmlns:a16="http://schemas.microsoft.com/office/drawing/2014/main" id="{FF268D83-5C3F-471B-A5CB-2707CDF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24200"/>
            <a:ext cx="714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Collect visual inspiration earlier to guide the layout.</a:t>
            </a:r>
          </a:p>
        </p:txBody>
      </p:sp>
      <p:sp>
        <p:nvSpPr>
          <p:cNvPr id="62" name="change-bullets-1-mark">
            <a:extLst xmlns:a="http://schemas.openxmlformats.org/drawingml/2006/main">
              <a:ext uri="{FF2B5EF4-FFF2-40B4-BE49-F238E27FC236}">
                <a16:creationId xmlns:a16="http://schemas.microsoft.com/office/drawing/2014/main" id="{3AA9D428-EE9C-4164-8A5B-4C4DD87C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63" name="change-bullets-1-text">
            <a:extLst xmlns:a="http://schemas.openxmlformats.org/drawingml/2006/main">
              <a:ext uri="{FF2B5EF4-FFF2-40B4-BE49-F238E27FC236}">
                <a16:creationId xmlns:a16="http://schemas.microsoft.com/office/drawing/2014/main" id="{7239E015-0B74-479B-965F-65BA40B1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57600"/>
            <a:ext cx="714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Lock the visual language before polishing every chart.</a:t>
            </a:r>
          </a:p>
        </p:txBody>
      </p:sp>
      <p:sp>
        <p:nvSpPr>
          <p:cNvPr id="64" name="change-bullets-2-mark">
            <a:extLst xmlns:a="http://schemas.openxmlformats.org/drawingml/2006/main">
              <a:ext uri="{FF2B5EF4-FFF2-40B4-BE49-F238E27FC236}">
                <a16:creationId xmlns:a16="http://schemas.microsoft.com/office/drawing/2014/main" id="{D1A098FE-DB0A-47D3-B8EB-CB8BF360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19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65" name="change-bullets-2-text">
            <a:extLst xmlns:a="http://schemas.openxmlformats.org/drawingml/2006/main">
              <a:ext uri="{FF2B5EF4-FFF2-40B4-BE49-F238E27FC236}">
                <a16:creationId xmlns:a16="http://schemas.microsoft.com/office/drawing/2014/main" id="{C5D9335F-049C-44AC-814D-9713BD20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91000"/>
            <a:ext cx="7143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Build validation checks for incidents, statuses, and missing race data sooner.</a:t>
            </a:r>
          </a:p>
        </p:txBody>
      </p:sp>
      <p:sp>
        <p:nvSpPr>
          <p:cNvPr id="66" name="change-bullets-3-mark">
            <a:extLst xmlns:a="http://schemas.openxmlformats.org/drawingml/2006/main">
              <a:ext uri="{FF2B5EF4-FFF2-40B4-BE49-F238E27FC236}">
                <a16:creationId xmlns:a16="http://schemas.microsoft.com/office/drawing/2014/main" id="{B8F54FE0-0B7A-4920-A687-6B50364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67" name="change-bullets-3-text">
            <a:extLst xmlns:a="http://schemas.openxmlformats.org/drawingml/2006/main">
              <a:ext uri="{FF2B5EF4-FFF2-40B4-BE49-F238E27FC236}">
                <a16:creationId xmlns:a16="http://schemas.microsoft.com/office/drawing/2014/main" id="{7B3F3F58-22C1-4DF7-B32C-8D55381B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048250"/>
            <a:ext cx="7143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Prototype motion separately before integrating it into the main site.</a:t>
            </a:r>
          </a:p>
        </p:txBody>
      </p:sp>
    </p:spTree>
    <p:extLst>
      <p:ext uri="{BB962C8B-B14F-4D97-AF65-F5344CB8AC3E}">
        <p14:creationId xmlns:p14="http://schemas.microsoft.com/office/powerpoint/2010/main" val="14903368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0DBF7B6-FC64-4C6B-A46F-7681D8CC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</p:spPr>
      </p:sp>
      <p:sp>
        <p:nvSpPr>
          <p:cNvPr id="2" name="bg-pixel-0">
            <a:extLst xmlns:a="http://schemas.openxmlformats.org/drawingml/2006/main">
              <a:ext uri="{FF2B5EF4-FFF2-40B4-BE49-F238E27FC236}">
                <a16:creationId xmlns:a16="http://schemas.microsoft.com/office/drawing/2014/main" id="{29CDDE75-2DF8-4C82-BFD4-80C535DA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" name="bg-pixel-1">
            <a:extLst xmlns:a="http://schemas.openxmlformats.org/drawingml/2006/main">
              <a:ext uri="{FF2B5EF4-FFF2-40B4-BE49-F238E27FC236}">
                <a16:creationId xmlns:a16="http://schemas.microsoft.com/office/drawing/2014/main" id="{600C659F-45BE-4321-80BD-F4096B8F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" name="bg-pixel-2">
            <a:extLst xmlns:a="http://schemas.openxmlformats.org/drawingml/2006/main">
              <a:ext uri="{FF2B5EF4-FFF2-40B4-BE49-F238E27FC236}">
                <a16:creationId xmlns:a16="http://schemas.microsoft.com/office/drawing/2014/main" id="{7BF4D7D1-F07C-430B-8B51-F145F90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5" name="bg-pixel-3">
            <a:extLst xmlns:a="http://schemas.openxmlformats.org/drawingml/2006/main">
              <a:ext uri="{FF2B5EF4-FFF2-40B4-BE49-F238E27FC236}">
                <a16:creationId xmlns:a16="http://schemas.microsoft.com/office/drawing/2014/main" id="{B4492F41-6C13-49E3-BF7C-4FE0A3D1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" name="bg-pixel-4">
            <a:extLst xmlns:a="http://schemas.openxmlformats.org/drawingml/2006/main">
              <a:ext uri="{FF2B5EF4-FFF2-40B4-BE49-F238E27FC236}">
                <a16:creationId xmlns:a16="http://schemas.microsoft.com/office/drawing/2014/main" id="{60E4AA5D-2625-4BF9-8F70-46B0681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" name="bg-pixel-5">
            <a:extLst xmlns:a="http://schemas.openxmlformats.org/drawingml/2006/main">
              <a:ext uri="{FF2B5EF4-FFF2-40B4-BE49-F238E27FC236}">
                <a16:creationId xmlns:a16="http://schemas.microsoft.com/office/drawing/2014/main" id="{63E75BB6-6C10-4A70-BB95-91B2E38B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8" name="bg-pixel-6">
            <a:extLst xmlns:a="http://schemas.openxmlformats.org/drawingml/2006/main">
              <a:ext uri="{FF2B5EF4-FFF2-40B4-BE49-F238E27FC236}">
                <a16:creationId xmlns:a16="http://schemas.microsoft.com/office/drawing/2014/main" id="{F9086C77-14A0-489F-8BB7-A088F86F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9" name="bg-pixel-7">
            <a:extLst xmlns:a="http://schemas.openxmlformats.org/drawingml/2006/main">
              <a:ext uri="{FF2B5EF4-FFF2-40B4-BE49-F238E27FC236}">
                <a16:creationId xmlns:a16="http://schemas.microsoft.com/office/drawing/2014/main" id="{3C5C44D6-686D-4C62-BF32-42F4905E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0" name="bg-pixel-8">
            <a:extLst xmlns:a="http://schemas.openxmlformats.org/drawingml/2006/main">
              <a:ext uri="{FF2B5EF4-FFF2-40B4-BE49-F238E27FC236}">
                <a16:creationId xmlns:a16="http://schemas.microsoft.com/office/drawing/2014/main" id="{0EFB5F3F-21E4-400F-9B63-8C47CF67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1" name="bg-pixel-9">
            <a:extLst xmlns:a="http://schemas.openxmlformats.org/drawingml/2006/main">
              <a:ext uri="{FF2B5EF4-FFF2-40B4-BE49-F238E27FC236}">
                <a16:creationId xmlns:a16="http://schemas.microsoft.com/office/drawing/2014/main" id="{39AEA85E-232D-4FA8-8B01-C1955D99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2" name="bg-pixel-10">
            <a:extLst xmlns:a="http://schemas.openxmlformats.org/drawingml/2006/main">
              <a:ext uri="{FF2B5EF4-FFF2-40B4-BE49-F238E27FC236}">
                <a16:creationId xmlns:a16="http://schemas.microsoft.com/office/drawing/2014/main" id="{9F4B2DD5-6257-4FCD-9666-85C1CA73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3" name="bg-pixel-11">
            <a:extLst xmlns:a="http://schemas.openxmlformats.org/drawingml/2006/main">
              <a:ext uri="{FF2B5EF4-FFF2-40B4-BE49-F238E27FC236}">
                <a16:creationId xmlns:a16="http://schemas.microsoft.com/office/drawing/2014/main" id="{8D91940A-7DA9-4C42-859B-61239D34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4" name="bg-pixel-12">
            <a:extLst xmlns:a="http://schemas.openxmlformats.org/drawingml/2006/main">
              <a:ext uri="{FF2B5EF4-FFF2-40B4-BE49-F238E27FC236}">
                <a16:creationId xmlns:a16="http://schemas.microsoft.com/office/drawing/2014/main" id="{AC3E2911-424A-418B-AC9E-D3527F76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5" name="bg-pixel-13">
            <a:extLst xmlns:a="http://schemas.openxmlformats.org/drawingml/2006/main">
              <a:ext uri="{FF2B5EF4-FFF2-40B4-BE49-F238E27FC236}">
                <a16:creationId xmlns:a16="http://schemas.microsoft.com/office/drawing/2014/main" id="{7D6E05B1-3578-41D9-BD73-26EBA4ED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6" name="bg-pixel-14">
            <a:extLst xmlns:a="http://schemas.openxmlformats.org/drawingml/2006/main">
              <a:ext uri="{FF2B5EF4-FFF2-40B4-BE49-F238E27FC236}">
                <a16:creationId xmlns:a16="http://schemas.microsoft.com/office/drawing/2014/main" id="{05146E30-B98A-415E-9F79-9C38D06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17" name="bg-pixel-15">
            <a:extLst xmlns:a="http://schemas.openxmlformats.org/drawingml/2006/main">
              <a:ext uri="{FF2B5EF4-FFF2-40B4-BE49-F238E27FC236}">
                <a16:creationId xmlns:a16="http://schemas.microsoft.com/office/drawing/2014/main" id="{07FC2498-58ED-4A9E-9873-8C5B8E2E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2057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8" name="bg-pixel-16">
            <a:extLst xmlns:a="http://schemas.openxmlformats.org/drawingml/2006/main">
              <a:ext uri="{FF2B5EF4-FFF2-40B4-BE49-F238E27FC236}">
                <a16:creationId xmlns:a16="http://schemas.microsoft.com/office/drawing/2014/main" id="{A39C544E-EF88-40B4-8338-767B090D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19" name="bg-pixel-17">
            <a:extLst xmlns:a="http://schemas.openxmlformats.org/drawingml/2006/main">
              <a:ext uri="{FF2B5EF4-FFF2-40B4-BE49-F238E27FC236}">
                <a16:creationId xmlns:a16="http://schemas.microsoft.com/office/drawing/2014/main" id="{D1B4F656-82A1-4BD1-BDFF-79D8F1E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0" name="bg-pixel-18">
            <a:extLst xmlns:a="http://schemas.openxmlformats.org/drawingml/2006/main">
              <a:ext uri="{FF2B5EF4-FFF2-40B4-BE49-F238E27FC236}">
                <a16:creationId xmlns:a16="http://schemas.microsoft.com/office/drawing/2014/main" id="{3016D694-3E39-4110-8164-B3216EFB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1" name="bg-pixel-19">
            <a:extLst xmlns:a="http://schemas.openxmlformats.org/drawingml/2006/main">
              <a:ext uri="{FF2B5EF4-FFF2-40B4-BE49-F238E27FC236}">
                <a16:creationId xmlns:a16="http://schemas.microsoft.com/office/drawing/2014/main" id="{A7166A38-CFAF-4064-B9B0-464F02D1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2" name="bg-pixel-20">
            <a:extLst xmlns:a="http://schemas.openxmlformats.org/drawingml/2006/main">
              <a:ext uri="{FF2B5EF4-FFF2-40B4-BE49-F238E27FC236}">
                <a16:creationId xmlns:a16="http://schemas.microsoft.com/office/drawing/2014/main" id="{98BB0F08-B128-4914-8C5C-435E95A5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3" name="bg-pixel-21">
            <a:extLst xmlns:a="http://schemas.openxmlformats.org/drawingml/2006/main">
              <a:ext uri="{FF2B5EF4-FFF2-40B4-BE49-F238E27FC236}">
                <a16:creationId xmlns:a16="http://schemas.microsoft.com/office/drawing/2014/main" id="{ADF6C7A4-2707-49F5-B0C0-E4A7017E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24" name="bg-pixel-22">
            <a:extLst xmlns:a="http://schemas.openxmlformats.org/drawingml/2006/main">
              <a:ext uri="{FF2B5EF4-FFF2-40B4-BE49-F238E27FC236}">
                <a16:creationId xmlns:a16="http://schemas.microsoft.com/office/drawing/2014/main" id="{9B215E73-7215-4AA0-B3A8-1FB720C4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5" name="bg-pixel-23">
            <a:extLst xmlns:a="http://schemas.openxmlformats.org/drawingml/2006/main">
              <a:ext uri="{FF2B5EF4-FFF2-40B4-BE49-F238E27FC236}">
                <a16:creationId xmlns:a16="http://schemas.microsoft.com/office/drawing/2014/main" id="{338FD8CE-E576-46AC-83C5-F5DE444B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1910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6" name="bg-pixel-24">
            <a:extLst xmlns:a="http://schemas.openxmlformats.org/drawingml/2006/main">
              <a:ext uri="{FF2B5EF4-FFF2-40B4-BE49-F238E27FC236}">
                <a16:creationId xmlns:a16="http://schemas.microsoft.com/office/drawing/2014/main" id="{8F0A6557-92AC-41B2-841A-7212A550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7" name="bg-pixel-25">
            <a:extLst xmlns:a="http://schemas.openxmlformats.org/drawingml/2006/main">
              <a:ext uri="{FF2B5EF4-FFF2-40B4-BE49-F238E27FC236}">
                <a16:creationId xmlns:a16="http://schemas.microsoft.com/office/drawing/2014/main" id="{E884DDBA-287B-428F-9091-E1C70FD5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8" name="bg-pixel-26">
            <a:extLst xmlns:a="http://schemas.openxmlformats.org/drawingml/2006/main">
              <a:ext uri="{FF2B5EF4-FFF2-40B4-BE49-F238E27FC236}">
                <a16:creationId xmlns:a16="http://schemas.microsoft.com/office/drawing/2014/main" id="{9B3B0642-3763-4F5F-ACA3-D0A0C13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29" name="bg-pixel-27">
            <a:extLst xmlns:a="http://schemas.openxmlformats.org/drawingml/2006/main">
              <a:ext uri="{FF2B5EF4-FFF2-40B4-BE49-F238E27FC236}">
                <a16:creationId xmlns:a16="http://schemas.microsoft.com/office/drawing/2014/main" id="{91BD9C5B-18BA-4D09-9A28-AB652E66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0" name="bg-pixel-28">
            <a:extLst xmlns:a="http://schemas.openxmlformats.org/drawingml/2006/main">
              <a:ext uri="{FF2B5EF4-FFF2-40B4-BE49-F238E27FC236}">
                <a16:creationId xmlns:a16="http://schemas.microsoft.com/office/drawing/2014/main" id="{0E959347-8080-405F-99EB-31A950FA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1" name="bg-pixel-29">
            <a:extLst xmlns:a="http://schemas.openxmlformats.org/drawingml/2006/main">
              <a:ext uri="{FF2B5EF4-FFF2-40B4-BE49-F238E27FC236}">
                <a16:creationId xmlns:a16="http://schemas.microsoft.com/office/drawing/2014/main" id="{7BFEA6F7-2290-40E5-8CD0-3210D6E4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2" name="bg-pixel-30">
            <a:extLst xmlns:a="http://schemas.openxmlformats.org/drawingml/2006/main">
              <a:ext uri="{FF2B5EF4-FFF2-40B4-BE49-F238E27FC236}">
                <a16:creationId xmlns:a16="http://schemas.microsoft.com/office/drawing/2014/main" id="{156CB57C-244D-42F7-A20D-A7A007DF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3" name="bg-pixel-31">
            <a:extLst xmlns:a="http://schemas.openxmlformats.org/drawingml/2006/main">
              <a:ext uri="{FF2B5EF4-FFF2-40B4-BE49-F238E27FC236}">
                <a16:creationId xmlns:a16="http://schemas.microsoft.com/office/drawing/2014/main" id="{26C2AFCD-A925-4D95-9F42-E3C40D28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484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4" name="bg-pixel-32">
            <a:extLst xmlns:a="http://schemas.openxmlformats.org/drawingml/2006/main">
              <a:ext uri="{FF2B5EF4-FFF2-40B4-BE49-F238E27FC236}">
                <a16:creationId xmlns:a16="http://schemas.microsoft.com/office/drawing/2014/main" id="{0C227DF0-689F-487A-B65D-DBA54D71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5" name="bg-pixel-33">
            <a:extLst xmlns:a="http://schemas.openxmlformats.org/drawingml/2006/main">
              <a:ext uri="{FF2B5EF4-FFF2-40B4-BE49-F238E27FC236}">
                <a16:creationId xmlns:a16="http://schemas.microsoft.com/office/drawing/2014/main" id="{A4090949-22A5-40F5-8611-60F257F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bg-pixel-34">
            <a:extLst xmlns:a="http://schemas.openxmlformats.org/drawingml/2006/main">
              <a:ext uri="{FF2B5EF4-FFF2-40B4-BE49-F238E27FC236}">
                <a16:creationId xmlns:a16="http://schemas.microsoft.com/office/drawing/2014/main" id="{FD061EC9-8E7C-4F04-BBFE-6C418FDD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7" name="bg-pixel-35">
            <a:extLst xmlns:a="http://schemas.openxmlformats.org/drawingml/2006/main">
              <a:ext uri="{FF2B5EF4-FFF2-40B4-BE49-F238E27FC236}">
                <a16:creationId xmlns:a16="http://schemas.microsoft.com/office/drawing/2014/main" id="{A7382427-1E1D-48D4-8DF4-3B3F80DE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4A"/>
          </a:solidFill>
        </p:spPr>
      </p:sp>
      <p:sp>
        <p:nvSpPr>
          <p:cNvPr id="38" name="bg-pixel-36">
            <a:extLst xmlns:a="http://schemas.openxmlformats.org/drawingml/2006/main">
              <a:ext uri="{FF2B5EF4-FFF2-40B4-BE49-F238E27FC236}">
                <a16:creationId xmlns:a16="http://schemas.microsoft.com/office/drawing/2014/main" id="{589B9268-A81B-4B4D-A5BC-7FA48454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39" name="bg-pixel-37">
            <a:extLst xmlns:a="http://schemas.openxmlformats.org/drawingml/2006/main">
              <a:ext uri="{FF2B5EF4-FFF2-40B4-BE49-F238E27FC236}">
                <a16:creationId xmlns:a16="http://schemas.microsoft.com/office/drawing/2014/main" id="{5857DB6C-19EB-441A-80D9-6692A63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0" name="bg-pixel-38">
            <a:extLst xmlns:a="http://schemas.openxmlformats.org/drawingml/2006/main">
              <a:ext uri="{FF2B5EF4-FFF2-40B4-BE49-F238E27FC236}">
                <a16:creationId xmlns:a16="http://schemas.microsoft.com/office/drawing/2014/main" id="{E0B0FE05-E21C-49C1-A6BF-01D34F10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1" name="bg-pixel-39">
            <a:extLst xmlns:a="http://schemas.openxmlformats.org/drawingml/2006/main">
              <a:ext uri="{FF2B5EF4-FFF2-40B4-BE49-F238E27FC236}">
                <a16:creationId xmlns:a16="http://schemas.microsoft.com/office/drawing/2014/main" id="{D88EE333-0297-4B4B-B790-1FDF12CB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8305800"/>
            <a:ext cx="2209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571DF8-2975-4D58-866D-38A83381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443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7D0"/>
                </a:solidFill>
              </a:defRPr>
            </a:pPr>
            <a:r>
              <a:rPr sz="4350" b="1">
                <a:solidFill>
                  <a:srgbClr val="FFF7D0"/>
                </a:solidFill>
              </a:rPr>
              <a:t>Future Work</a:t>
            </a:r>
          </a:p>
        </p:txBody>
      </p:sp>
      <p:sp>
        <p:nvSpPr>
          <p:cNvPr id="4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B17B70-BF77-4A0F-808F-04A0F09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43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8C7D9"/>
                </a:solidFill>
              </a:defRPr>
            </a:pPr>
            <a:r>
              <a:rPr sz="2025">
                <a:solidFill>
                  <a:srgbClr val="B8C7D9"/>
                </a:solidFill>
              </a:rPr>
              <a:t>Features I would add with more time</a:t>
            </a:r>
          </a:p>
        </p:txBody>
      </p:sp>
      <p:sp>
        <p:nvSpPr>
          <p:cNvPr id="44" name="lap-11">
            <a:extLst xmlns:a="http://schemas.openxmlformats.org/drawingml/2006/main">
              <a:ext uri="{FF2B5EF4-FFF2-40B4-BE49-F238E27FC236}">
                <a16:creationId xmlns:a16="http://schemas.microsoft.com/office/drawing/2014/main" id="{A861CD7A-AF86-4A16-B2D5-7AAB70FE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8"/>
          </a:solidFill>
        </p:spPr>
      </p:sp>
      <p:sp>
        <p:nvSpPr>
          <p:cNvPr id="45" name="lap-light-11">
            <a:extLst xmlns:a="http://schemas.openxmlformats.org/drawingml/2006/main">
              <a:ext uri="{FF2B5EF4-FFF2-40B4-BE49-F238E27FC236}">
                <a16:creationId xmlns:a16="http://schemas.microsoft.com/office/drawing/2014/main" id="{3E7592FB-66CD-4CA5-AE07-95E8D6DF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90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46" name="lap-text-11">
            <a:extLst xmlns:a="http://schemas.openxmlformats.org/drawingml/2006/main">
              <a:ext uri="{FF2B5EF4-FFF2-40B4-BE49-F238E27FC236}">
                <a16:creationId xmlns:a16="http://schemas.microsoft.com/office/drawing/2014/main" id="{B8C0BA38-86F6-457A-A085-74BEA274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971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7D0"/>
                </a:solidFill>
              </a:defRPr>
            </a:pPr>
            <a:r>
              <a:rPr sz="1500" b="1">
                <a:solidFill>
                  <a:srgbClr val="FFF7D0"/>
                </a:solidFill>
              </a:rPr>
              <a:t>LAP 11/11</a:t>
            </a:r>
          </a:p>
        </p:txBody>
      </p:sp>
      <p:sp>
        <p:nvSpPr>
          <p:cNvPr id="4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555C599-412F-436C-9DBF-443113F2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>
              <a:alpha val="95000"/>
            </a:srgbClr>
          </a:solidFill>
          <a:ln xmlns:a="http://schemas.openxmlformats.org/drawingml/2006/main" w="0">
            <a:solidFill>
              <a:srgbClr val="FFD54A">
                <a:alpha val="95000"/>
              </a:srgbClr>
            </a:solidFill>
            <a:prstDash val="solid"/>
          </a:ln>
        </p:spPr>
      </p:sp>
      <p:sp>
        <p:nvSpPr>
          <p:cNvPr id="48" name="future-list-0-mark">
            <a:extLst xmlns:a="http://schemas.openxmlformats.org/drawingml/2006/main">
              <a:ext uri="{FF2B5EF4-FFF2-40B4-BE49-F238E27FC236}">
                <a16:creationId xmlns:a16="http://schemas.microsoft.com/office/drawing/2014/main" id="{353ECF4A-CC50-447D-8E1B-90BB5393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49" name="future-list-0-text">
            <a:extLst xmlns:a="http://schemas.openxmlformats.org/drawingml/2006/main">
              <a:ext uri="{FF2B5EF4-FFF2-40B4-BE49-F238E27FC236}">
                <a16:creationId xmlns:a16="http://schemas.microsoft.com/office/drawing/2014/main" id="{66B0D340-0A22-4A99-87F3-C07B8EDF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847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Scrollytelling transitions that move one chart through the race story.</a:t>
            </a:r>
          </a:p>
        </p:txBody>
      </p:sp>
      <p:sp>
        <p:nvSpPr>
          <p:cNvPr id="50" name="future-list-1-mark">
            <a:extLst xmlns:a="http://schemas.openxmlformats.org/drawingml/2006/main">
              <a:ext uri="{FF2B5EF4-FFF2-40B4-BE49-F238E27FC236}">
                <a16:creationId xmlns:a16="http://schemas.microsoft.com/office/drawing/2014/main" id="{5EA2860C-6379-492D-BF0C-2DCCBD63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51" name="future-list-1-text">
            <a:extLst xmlns:a="http://schemas.openxmlformats.org/drawingml/2006/main">
              <a:ext uri="{FF2B5EF4-FFF2-40B4-BE49-F238E27FC236}">
                <a16:creationId xmlns:a16="http://schemas.microsoft.com/office/drawing/2014/main" id="{C62F51CE-727D-4905-BF25-597810D1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47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More F1 and retro-game visual references without hiding the data.</a:t>
            </a:r>
          </a:p>
        </p:txBody>
      </p:sp>
      <p:sp>
        <p:nvSpPr>
          <p:cNvPr id="52" name="future-list-2-mark">
            <a:extLst xmlns:a="http://schemas.openxmlformats.org/drawingml/2006/main">
              <a:ext uri="{FF2B5EF4-FFF2-40B4-BE49-F238E27FC236}">
                <a16:creationId xmlns:a16="http://schemas.microsoft.com/office/drawing/2014/main" id="{7D283A59-7234-4831-83D3-16B03683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53" name="future-list-2-text">
            <a:extLst xmlns:a="http://schemas.openxmlformats.org/drawingml/2006/main">
              <a:ext uri="{FF2B5EF4-FFF2-40B4-BE49-F238E27FC236}">
                <a16:creationId xmlns:a16="http://schemas.microsoft.com/office/drawing/2014/main" id="{CAE4D684-1156-4F93-8E95-B5CC2CEE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847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Lap replay controls for position changes and neutralization periods.</a:t>
            </a:r>
          </a:p>
        </p:txBody>
      </p:sp>
      <p:sp>
        <p:nvSpPr>
          <p:cNvPr id="54" name="future-list-3-mark">
            <a:extLst xmlns:a="http://schemas.openxmlformats.org/drawingml/2006/main">
              <a:ext uri="{FF2B5EF4-FFF2-40B4-BE49-F238E27FC236}">
                <a16:creationId xmlns:a16="http://schemas.microsoft.com/office/drawing/2014/main" id="{2E109E50-EACB-4E8B-9B3A-C288BDB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55" name="future-list-3-text">
            <a:extLst xmlns:a="http://schemas.openxmlformats.org/drawingml/2006/main">
              <a:ext uri="{FF2B5EF4-FFF2-40B4-BE49-F238E27FC236}">
                <a16:creationId xmlns:a16="http://schemas.microsoft.com/office/drawing/2014/main" id="{8C8199A9-3726-45EE-AADA-910E146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847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Driver and team filters for deeper exploration.</a:t>
            </a:r>
          </a:p>
        </p:txBody>
      </p:sp>
      <p:sp>
        <p:nvSpPr>
          <p:cNvPr id="56" name="future-list-4-mark">
            <a:extLst xmlns:a="http://schemas.openxmlformats.org/drawingml/2006/main">
              <a:ext uri="{FF2B5EF4-FFF2-40B4-BE49-F238E27FC236}">
                <a16:creationId xmlns:a16="http://schemas.microsoft.com/office/drawing/2014/main" id="{9FFEC72B-1244-4DAC-9DE7-7EDC1FCD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A"/>
          </a:solidFill>
        </p:spPr>
      </p:sp>
      <p:sp>
        <p:nvSpPr>
          <p:cNvPr id="57" name="future-list-4-text">
            <a:extLst xmlns:a="http://schemas.openxmlformats.org/drawingml/2006/main">
              <a:ext uri="{FF2B5EF4-FFF2-40B4-BE49-F238E27FC236}">
                <a16:creationId xmlns:a16="http://schemas.microsoft.com/office/drawing/2014/main" id="{32E93D8E-4E0B-498F-9AB2-60FD9892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847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More races, more seasons, and qualifying/sprint context.</a:t>
            </a:r>
          </a:p>
        </p:txBody>
      </p:sp>
      <p:sp>
        <p:nvSpPr>
          <p:cNvPr id="58" name="future-list-5-mark">
            <a:extLst xmlns:a="http://schemas.openxmlformats.org/drawingml/2006/main">
              <a:ext uri="{FF2B5EF4-FFF2-40B4-BE49-F238E27FC236}">
                <a16:creationId xmlns:a16="http://schemas.microsoft.com/office/drawing/2014/main" id="{FA23C1BF-079E-4DE3-95D5-874DBF1E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59" name="future-list-5-text">
            <a:extLst xmlns:a="http://schemas.openxmlformats.org/drawingml/2006/main">
              <a:ext uri="{FF2B5EF4-FFF2-40B4-BE49-F238E27FC236}">
                <a16:creationId xmlns:a16="http://schemas.microsoft.com/office/drawing/2014/main" id="{B33DABEA-7DD0-4BE1-ADD9-BAA551FD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847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D0"/>
                </a:solidFill>
              </a:defRPr>
            </a:pPr>
            <a:r>
              <a:rPr sz="2175">
                <a:solidFill>
                  <a:srgbClr val="FFF7D0"/>
                </a:solidFill>
              </a:rPr>
              <a:t>Mobile polish and accessibility checks for all tooltips and legends.</a:t>
            </a:r>
          </a:p>
        </p:txBody>
      </p:sp>
      <p:sp>
        <p:nvSpPr>
          <p:cNvPr id="60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C1150E66-2D03-4F98-88DF-F32706F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294" y="2171700"/>
            <a:ext cx="7553706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638"/>
          </a:solidFill>
        </p:spPr>
      </p:sp>
      <p:sp>
        <p:nvSpPr>
          <p:cNvPr id="61" name="closing-strip-pixel-0">
            <a:extLst xmlns:a="http://schemas.openxmlformats.org/drawingml/2006/main">
              <a:ext uri="{FF2B5EF4-FFF2-40B4-BE49-F238E27FC236}">
                <a16:creationId xmlns:a16="http://schemas.microsoft.com/office/drawing/2014/main" id="{6972B09F-3257-450B-870F-251D2C7E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86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F4D"/>
          </a:solidFill>
        </p:spPr>
      </p:sp>
      <p:sp>
        <p:nvSpPr>
          <p:cNvPr id="62" name="closing-strip-gap-0">
            <a:extLst xmlns:a="http://schemas.openxmlformats.org/drawingml/2006/main">
              <a:ext uri="{FF2B5EF4-FFF2-40B4-BE49-F238E27FC236}">
                <a16:creationId xmlns:a16="http://schemas.microsoft.com/office/drawing/2014/main" id="{11753C3E-9797-4786-AB49-4A90F56B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86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3" name="closing-strip-pixel-1">
            <a:extLst xmlns:a="http://schemas.openxmlformats.org/drawingml/2006/main">
              <a:ext uri="{FF2B5EF4-FFF2-40B4-BE49-F238E27FC236}">
                <a16:creationId xmlns:a16="http://schemas.microsoft.com/office/drawing/2014/main" id="{6DBF7852-88D4-40AE-873E-DD4B368B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686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A"/>
          </a:solidFill>
        </p:spPr>
      </p:sp>
      <p:sp>
        <p:nvSpPr>
          <p:cNvPr id="64" name="closing-strip-gap-1">
            <a:extLst xmlns:a="http://schemas.openxmlformats.org/drawingml/2006/main">
              <a:ext uri="{FF2B5EF4-FFF2-40B4-BE49-F238E27FC236}">
                <a16:creationId xmlns:a16="http://schemas.microsoft.com/office/drawing/2014/main" id="{C18C3973-692F-4D8F-AF96-6396988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5" name="closing-strip-pixel-2">
            <a:extLst xmlns:a="http://schemas.openxmlformats.org/drawingml/2006/main">
              <a:ext uri="{FF2B5EF4-FFF2-40B4-BE49-F238E27FC236}">
                <a16:creationId xmlns:a16="http://schemas.microsoft.com/office/drawing/2014/main" id="{CF827DF3-CB5B-4972-AFFF-213F9CC7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686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7A"/>
          </a:solidFill>
        </p:spPr>
      </p:sp>
      <p:sp>
        <p:nvSpPr>
          <p:cNvPr id="66" name="closing-strip-gap-2">
            <a:extLst xmlns:a="http://schemas.openxmlformats.org/drawingml/2006/main">
              <a:ext uri="{FF2B5EF4-FFF2-40B4-BE49-F238E27FC236}">
                <a16:creationId xmlns:a16="http://schemas.microsoft.com/office/drawing/2014/main" id="{A94C2D8E-0419-496D-A454-D98C3E03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86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7" name="closing-strip-pixel-3">
            <a:extLst xmlns:a="http://schemas.openxmlformats.org/drawingml/2006/main">
              <a:ext uri="{FF2B5EF4-FFF2-40B4-BE49-F238E27FC236}">
                <a16:creationId xmlns:a16="http://schemas.microsoft.com/office/drawing/2014/main" id="{C989FFE9-A264-4B77-B99C-F9526145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686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</p:spPr>
      </p:sp>
      <p:sp>
        <p:nvSpPr>
          <p:cNvPr id="68" name="closing-strip-gap-3">
            <a:extLst xmlns:a="http://schemas.openxmlformats.org/drawingml/2006/main">
              <a:ext uri="{FF2B5EF4-FFF2-40B4-BE49-F238E27FC236}">
                <a16:creationId xmlns:a16="http://schemas.microsoft.com/office/drawing/2014/main" id="{1EF1E1DF-049F-4489-8483-C1D929AC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686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69" name="closing-strip-pixel-4">
            <a:extLst xmlns:a="http://schemas.openxmlformats.org/drawingml/2006/main">
              <a:ext uri="{FF2B5EF4-FFF2-40B4-BE49-F238E27FC236}">
                <a16:creationId xmlns:a16="http://schemas.microsoft.com/office/drawing/2014/main" id="{3EF561DB-D181-4D13-B824-BC332C72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686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FF"/>
          </a:solidFill>
        </p:spPr>
      </p:sp>
      <p:sp>
        <p:nvSpPr>
          <p:cNvPr id="70" name="closing-strip-gap-4">
            <a:extLst xmlns:a="http://schemas.openxmlformats.org/drawingml/2006/main">
              <a:ext uri="{FF2B5EF4-FFF2-40B4-BE49-F238E27FC236}">
                <a16:creationId xmlns:a16="http://schemas.microsoft.com/office/drawing/2014/main" id="{742A37DD-5A6A-4AAC-85A7-075F4C58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686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>
              <a:alpha val="0"/>
            </a:srgbClr>
          </a:solidFill>
        </p:spPr>
      </p:sp>
      <p:sp>
        <p:nvSpPr>
          <p:cNvPr id="71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4D153B77-0D02-4E66-8FDE-F1CBCBBF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8160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54A"/>
                </a:solidFill>
              </a:defRPr>
            </a:pPr>
            <a:r>
              <a:rPr sz="1500" b="1">
                <a:solidFill>
                  <a:srgbClr val="FFD54A"/>
                </a:solidFill>
              </a:rPr>
              <a:t>Next version:</a:t>
            </a:r>
          </a:p>
        </p:txBody>
      </p:sp>
      <p:sp>
        <p:nvSpPr>
          <p:cNvPr id="72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3B01BFB7-532E-49C5-AE80-AF56BFF4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676900"/>
            <a:ext cx="68770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D0"/>
                </a:solidFill>
              </a:defRPr>
            </a:pPr>
            <a:r>
              <a:rPr sz="3150" b="1">
                <a:solidFill>
                  <a:srgbClr val="FFF7D0"/>
                </a:solidFill>
              </a:rPr>
              <a:t>A race-story mode where the viewer scrolls from lights out to checkered flag.</a:t>
            </a:r>
          </a:p>
        </p:txBody>
      </p:sp>
      <p:sp>
        <p:nvSpPr>
          <p:cNvPr id="73" name="closing-url">
            <a:extLst xmlns:a="http://schemas.openxmlformats.org/drawingml/2006/main">
              <a:ext uri="{FF2B5EF4-FFF2-40B4-BE49-F238E27FC236}">
                <a16:creationId xmlns:a16="http://schemas.microsoft.com/office/drawing/2014/main" id="{43045819-9EA0-4E4C-A450-63B71C37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896100"/>
            <a:ext cx="687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D54A"/>
                </a:solidFill>
              </a:defRPr>
            </a:pPr>
            <a:r>
              <a:rPr sz="2250" b="1">
                <a:solidFill>
                  <a:srgbClr val="FFD54A"/>
                </a:solidFill>
              </a:rPr>
              <a:t>https://alejandrospot2.github.io/F1/</a:t>
            </a:r>
          </a:p>
        </p:txBody>
      </p:sp>
    </p:spTree>
    <p:extLst>
      <p:ext uri="{BB962C8B-B14F-4D97-AF65-F5344CB8AC3E}">
        <p14:creationId xmlns:p14="http://schemas.microsoft.com/office/powerpoint/2010/main" val="1619848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2026-05-12T01:10:54.0130000Z</dcterms:created>
  <dcterms:modified xsi:type="dcterms:W3CDTF">2026-05-12T01:10:54.0140000Z</dcterms:modified>
</coreProperties>
</file>